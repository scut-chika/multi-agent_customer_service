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3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22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-182880"/>
            <a:ext cx="2468880" cy="2468880"/>
          </a:xfrm>
          <a:prstGeom prst="ellipse">
            <a:avLst/>
          </a:prstGeom>
          <a:noFill/>
          <a:ln w="19050">
            <a:solidFill>
              <a:srgbClr val="1B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01400" y="0"/>
            <a:ext cx="822960" cy="822960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3312" y="6245352"/>
            <a:ext cx="219456" cy="219456"/>
          </a:xfrm>
          <a:prstGeom prst="ellipse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1828800"/>
            <a:ext cx="128016" cy="8686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1737360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智服方舟</a:t>
            </a:r>
            <a:endParaRPr sz="4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316736" y="272491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多智能体客服自主闭环平台</a:t>
            </a:r>
            <a:endParaRPr sz="260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17244" y="3372358"/>
            <a:ext cx="8686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Multi-Agent Customer Service Autonomous Closed-Loop Platform</a:t>
            </a:r>
            <a:endParaRPr sz="1200" b="0" i="0">
              <a:solidFill>
                <a:srgbClr val="9AABB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5840" y="3950208"/>
            <a:ext cx="3840480" cy="1905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8686800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赛道：Agent Infra</a:t>
            </a:r>
            <a:r>
              <a:rPr 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     </a:t>
            </a:r>
            <a:r>
              <a:rPr sz="150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｜</a:t>
            </a:r>
            <a:r>
              <a:rPr lang="en-US"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      </a:t>
            </a:r>
            <a:r>
              <a:rPr sz="15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方向二 · 智能客服自主闭环</a:t>
            </a:r>
            <a:r>
              <a:rPr sz="150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　　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05840" y="4892040"/>
            <a:ext cx="2761487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AgentTeams 协同底座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931919" y="4892040"/>
            <a:ext cx="2432303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Leader-Worker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28814" y="4892040"/>
            <a:ext cx="1115568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Skill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808974" y="4892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MCP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759950" y="4892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RAG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710926" y="489204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 w="12700">
            <a:solidFill>
              <a:srgbClr val="2A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可观测</a:t>
            </a:r>
            <a:endParaRPr sz="105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53185" y="5746115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让客服从“单点问答”走向“自主闭环”：接入 → 分诊 → 方案 → 执行 → 核验 → 复盘</a:t>
            </a:r>
            <a:endParaRPr sz="125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202180" y="6198870"/>
            <a:ext cx="914400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参赛团队：___</a:t>
            </a:r>
            <a:r>
              <a:rPr lang="zh-CN"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方舟队</a:t>
            </a:r>
            <a:r>
              <a:rPr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_________　　日期：2026-08</a:t>
            </a:r>
            <a:endParaRPr sz="1000" b="0" i="0">
              <a:solidFill>
                <a:srgbClr val="9AABB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2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1737360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99032" y="1755648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背景与业务价值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多渠道客服的五大痛点与量化目标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25112" y="1572768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9704" y="1737360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21224" y="1755648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总体方案架构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07992" y="2377440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接入 / 协同 / 能力 / 数据 / 治理五层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47304" y="1572768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1737360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043416" y="1755648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多 Agent 协同设计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330184" y="2377440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Leader-Worker 角色编排与 AgentTeams 映射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2920" y="3163824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3328416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04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99032" y="3346704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端到端闭环流程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85800" y="3968496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八环节闭环：输入 → 拆解 → 上下文 → 工具 → 验证 → 证据 → 审批 → 沉淀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325112" y="3163824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89704" y="3328416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21224" y="3346704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Skill 与 MCP 工具集成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07992" y="3968496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7 个核心 Skill 九要素清单与工具契约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147304" y="3163824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311896" y="3328416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043416" y="3346704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可观测与 RAG 增强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30184" y="3968496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Trace/Log/Metrics 与四类上下文能力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502920" y="4754880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7512" y="4919472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399032" y="493776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安全与异常分支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85800" y="5559552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审批 / 回滚 / 审计 / 容错降级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325112" y="4754880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89704" y="4919472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5221224" y="493776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可行性与落地计划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07992" y="5559552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初赛 → 复赛 → 决赛 → 生产四阶段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8147304" y="4754880"/>
            <a:ext cx="3602736" cy="13898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311896" y="4919472"/>
            <a:ext cx="566928" cy="457200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sz="15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043416" y="4937760"/>
            <a:ext cx="255117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项目进展与总结</a:t>
            </a:r>
            <a:endParaRPr sz="14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330184" y="5559552"/>
            <a:ext cx="325526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当前进展、开放开源与下一步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背景与业务价值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多渠道客服场景：重复、分诊慢、跨系统执行慢、缺核验、难沉淀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3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977639" cy="3977639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6002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业务场景：多渠道会话聚合</a:t>
            </a:r>
            <a:endParaRPr sz="15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77240" y="2121408"/>
            <a:ext cx="342900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286000"/>
            <a:ext cx="128016" cy="1828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185416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邮件渠道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234440" y="2395728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Mail · 工单导入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7240" y="2743200"/>
            <a:ext cx="342900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2907792"/>
            <a:ext cx="128016" cy="1828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280720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在线客服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34440" y="3017520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Web IM · 实时会话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77240" y="3364992"/>
            <a:ext cx="342900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0120" y="3529584"/>
            <a:ext cx="128016" cy="1828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429000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电话转写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234440" y="3639312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ASR 通话文本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77240" y="3986784"/>
            <a:ext cx="342900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0120" y="4151376"/>
            <a:ext cx="128016" cy="1828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05079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社媒评论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34440" y="4261104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微博/小红书/微信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77240" y="4608576"/>
            <a:ext cx="342900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4773168"/>
            <a:ext cx="128016" cy="18288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46725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企业工单系统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234440" y="4882896"/>
            <a:ext cx="2834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既有 Ticketing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77240" y="5470779"/>
            <a:ext cx="3520440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6A23C"/>
                </a:solidFill>
                <a:latin typeface="微软雅黑" panose="020B0503020204020204" charset="-122"/>
                <a:ea typeface="微软雅黑" panose="020B0503020204020204" charset="-122"/>
              </a:rPr>
              <a:t>同一用户多渠道重复发起咨询</a:t>
            </a:r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→ 会话指纹去重、工单合并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五大业务痛点</a:t>
            </a:r>
            <a:endParaRPr sz="15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800600" y="1874519"/>
            <a:ext cx="6858000" cy="676656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029200" y="2039111"/>
            <a:ext cx="347472" cy="347472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10912" y="2093975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468112" y="1947671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渠道割裂，重复工单率高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468112" y="2240279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消息散落多渠道，无统一聚合与去重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800600" y="2624327"/>
            <a:ext cx="6858000" cy="676656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29200" y="2788919"/>
            <a:ext cx="347472" cy="347472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2843783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468112" y="2697479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人工分诊，响应慢且标准不一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468112" y="2990087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意图依赖经验，紧急/高危识别不及时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4800600" y="3374135"/>
            <a:ext cx="6858000" cy="676656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029200" y="3538727"/>
            <a:ext cx="347472" cy="347472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10912" y="3593591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468112" y="3447287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跨系统执行慢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468112" y="3739895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退款、换货、账户变更需多系统人工操作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800600" y="4123943"/>
            <a:ext cx="6858000" cy="676656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029200" y="4288535"/>
            <a:ext cx="347472" cy="347472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4343399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68112" y="4197095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执行结果缺核验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468112" y="4489703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无自动核验，满意度确认滞后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4800600" y="4873751"/>
            <a:ext cx="6858000" cy="676656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29200" y="5038343"/>
            <a:ext cx="347472" cy="347472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5093207"/>
            <a:ext cx="38404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5468112" y="4946903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经验难沉淀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68112" y="5239511"/>
            <a:ext cx="6126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疑难案例复盘靠手工，知识库更新慢</a:t>
            </a:r>
            <a:endParaRPr sz="9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502920" y="5715000"/>
            <a:ext cx="11185855" cy="658368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85800" y="5815584"/>
            <a:ext cx="1371600" cy="45720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价值目标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2331720" y="5788152"/>
            <a:ext cx="2212848" cy="512064"/>
          </a:xfrm>
          <a:prstGeom prst="roundRect">
            <a:avLst>
              <a:gd name="adj" fmla="val 18000"/>
            </a:avLst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04872" y="5861304"/>
            <a:ext cx="2084831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工单处理时效 ↓70%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4672584" y="5788152"/>
            <a:ext cx="2212848" cy="512064"/>
          </a:xfrm>
          <a:prstGeom prst="roundRect">
            <a:avLst>
              <a:gd name="adj" fmla="val 18000"/>
            </a:avLst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45736" y="5861304"/>
            <a:ext cx="2084831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重复工单率 ↓60%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7013448" y="5788152"/>
            <a:ext cx="2212848" cy="512064"/>
          </a:xfrm>
          <a:prstGeom prst="roundRect">
            <a:avLst>
              <a:gd name="adj" fmla="val 18000"/>
            </a:avLst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86600" y="5861304"/>
            <a:ext cx="2084831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一次解决率 ↑40%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9354312" y="5788152"/>
            <a:ext cx="2212848" cy="512064"/>
          </a:xfrm>
          <a:prstGeom prst="roundRect">
            <a:avLst>
              <a:gd name="adj" fmla="val 18000"/>
            </a:avLst>
          </a:prstGeom>
          <a:solidFill>
            <a:srgbClr val="1B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27464" y="5861304"/>
            <a:ext cx="2084831" cy="307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sz="10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人工介入率 ≤15%（仅高风险/异常）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总体方案架构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以 AgentTeams 为协同底座：接入 / 协同 / 能力 / 数据 / 治理五层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4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" y="1481328"/>
            <a:ext cx="82296" cy="34747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481328"/>
            <a:ext cx="10515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接入层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874520" y="1472184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邮件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11880" y="1472184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在线客服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349240" y="1472184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电话转写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086600" y="1472184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社媒评论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823960" y="1472184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工单系统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2029968"/>
            <a:ext cx="11185855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" y="2139696"/>
            <a:ext cx="82296" cy="126187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139696"/>
            <a:ext cx="1051560" cy="1261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协同层
AgentTeams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874520" y="2121408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主控 Agent（Leader）
编排 · 状态追踪</a:t>
            </a:r>
            <a:endParaRPr sz="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663440" y="213969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聚合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4663440" y="26334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分诊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663440" y="3127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方案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144768" y="2139696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执行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144768" y="2633472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核验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44768" y="3127248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复盘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281160" y="2121408"/>
            <a:ext cx="23774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Matrix 房间传递任务与中间结论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心跳监控 Worker 运行状态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RBAC 权限与人工介入闸口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Worker 模板批量部署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02920" y="3602736"/>
            <a:ext cx="11185855" cy="8229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" y="3712464"/>
            <a:ext cx="82296" cy="603504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3712464"/>
            <a:ext cx="105156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能力层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1874520" y="3694176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Skill 能力抽象层
7 个核心 Skill（接入/认知/决策/执行/核验/沉淀）</a:t>
            </a:r>
            <a:endParaRPr sz="9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6190488" y="3968496"/>
            <a:ext cx="438912" cy="0"/>
          </a:xfrm>
          <a:prstGeom prst="line">
            <a:avLst/>
          </a:prstGeom>
          <a:ln w="22225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812280" y="3694176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MCP 工具连接层
工单 · 支付 · ERP · CRM · 知识库 · 短信/IM</a:t>
            </a:r>
            <a:endParaRPr sz="9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02920" y="4517136"/>
            <a:ext cx="11185855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648" y="4626864"/>
            <a:ext cx="82296" cy="43891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626864"/>
            <a:ext cx="105156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数据层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874520" y="4645152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知识库 RAG（向量库）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023360" y="4645152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工单 / 案例库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172200" y="4645152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 记忆（Redis）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8321040" y="4645152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观测存储（SLS · OTLP）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02920" y="5266944"/>
            <a:ext cx="11185855" cy="5669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" y="5376672"/>
            <a:ext cx="82296" cy="34747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5528" y="5376672"/>
            <a:ext cx="105156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治理·
可观测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1874520" y="53675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AgentLoop 全链路观测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3566160" y="53675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审计日志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5257800" y="53675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人工审批台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949440" y="53675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模型管理（多供应商）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641080" y="5367528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告警与离线评估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02920" y="5989320"/>
            <a:ext cx="111858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复用 AgentTeams 平台能力：多模型供应商接入、MCP 服务管理、Worker 模板、监控仪表盘、团队权限隔离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多 Agent 协同设计：Leader-Worker 角色编排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 个 Leader + 6 个职能 Worker，分工明确、边界清晰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5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142232" y="1371600"/>
            <a:ext cx="3904487" cy="868680"/>
          </a:xfrm>
          <a:prstGeom prst="roundRect">
            <a:avLst>
              <a:gd name="adj" fmla="val 12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1444752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主控 Agent · Leader</a:t>
            </a:r>
            <a:endParaRPr sz="14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25112" y="1847088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任务拆解 / 编排调度 / 上下文路由 / 状态追踪 / 升级决策</a:t>
            </a:r>
            <a:endParaRPr sz="900" b="0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2542032"/>
            <a:ext cx="3611880" cy="23957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3611880" cy="402336"/>
          </a:xfrm>
          <a:prstGeom prst="roundRect">
            <a:avLst>
              <a:gd name="adj" fmla="val 35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87752"/>
            <a:ext cx="3611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接入与认知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67512" y="30723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7512" y="3072384"/>
            <a:ext cx="64008" cy="80467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" y="31638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聚合 Agent · Intake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" y="34930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多渠道接入 / 归一化 / 去重建档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" y="39867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986784"/>
            <a:ext cx="64008" cy="80467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" y="40782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分诊 Agent · Triage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2104" y="44074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意图识别 / 分级 / 信息补全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 flipH="1">
            <a:off x="2308860" y="2240280"/>
            <a:ext cx="3785616" cy="3017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288536" y="2542032"/>
            <a:ext cx="3611880" cy="23957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288536" y="2542032"/>
            <a:ext cx="3611880" cy="402336"/>
          </a:xfrm>
          <a:prstGeom prst="roundRect">
            <a:avLst>
              <a:gd name="adj" fmla="val 3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8536" y="2587752"/>
            <a:ext cx="3611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决策与执行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4453128" y="30723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53128" y="3072384"/>
            <a:ext cx="64008" cy="80467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1638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方案 Agent · Planner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617720" y="34930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RAG 检索 / 生成合规方案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453128" y="39867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53128" y="3986784"/>
            <a:ext cx="64008" cy="80467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40782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执行 Agent · Executor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617720" y="44074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Skill+MCP 执行 / 幂等 / 回滚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094476" y="2240280"/>
            <a:ext cx="0" cy="3017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074152" y="2542032"/>
            <a:ext cx="3611880" cy="2395728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74152" y="2542032"/>
            <a:ext cx="3611880" cy="402336"/>
          </a:xfrm>
          <a:prstGeom prst="roundRect">
            <a:avLst>
              <a:gd name="adj" fmla="val 35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74152" y="2587752"/>
            <a:ext cx="36118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验证与进化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238744" y="30723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38744" y="3072384"/>
            <a:ext cx="64008" cy="804672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03336" y="31638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核验 Agent · Verifier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403336" y="34930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结果核验 / 满意度确认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8238744" y="3986784"/>
            <a:ext cx="3282696" cy="80467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38744" y="3986784"/>
            <a:ext cx="64008" cy="804672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6" y="4078224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复盘 Agent · Reviewer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403336" y="4407408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根因分析 / 知识沉淀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6094476" y="2240280"/>
            <a:ext cx="3785616" cy="301752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02920" y="5138928"/>
            <a:ext cx="11185855" cy="621792"/>
          </a:xfrm>
          <a:prstGeom prst="roundRect">
            <a:avLst>
              <a:gd name="adj" fmla="val 12000"/>
            </a:avLst>
          </a:prstGeom>
          <a:solidFill>
            <a:srgbClr val="E6F5F4"/>
          </a:solidFill>
          <a:ln w="9525">
            <a:solidFill>
              <a:srgbClr val="0EA5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12080"/>
            <a:ext cx="108200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协同三原则：</a:t>
            </a:r>
            <a:r>
              <a:rPr sz="10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① 单一领导权——一单一主控，避免双头指挥　　</a:t>
            </a:r>
            <a:r>
              <a:rPr sz="10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② 最小授权——Worker 仅持本职权限，跨权限须经主控路由　　</a:t>
            </a:r>
            <a:r>
              <a:rPr sz="10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③ 人工兜底——高风险 / 低置信 / 异常升级 Human-in-the-loop</a:t>
            </a:r>
            <a:endParaRPr sz="10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 Identity 清单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6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5853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4742"/>
                <a:gridCol w="2652410"/>
                <a:gridCol w="4207271"/>
                <a:gridCol w="309143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Agent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身份定位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能力边界（能做 / 不做）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协同关系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主控 Agent（Leader）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值班长：任务拆解、编排调度、全局状态追踪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做：编排、路由、仲裁、升级决策、结果汇总；不做：直接操作业务系统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与全部 Worker 双向协作；向人工发起审批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聚合 Agent（Intake）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前台接待：多渠道接入、归一化、去重、建档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做：解析消息、指纹去重、生成标准工单；不做：意图判断与业务处理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上游多渠道；下游分诊 Agent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分诊 Agent（Triage）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分诊护士：意图识别、分类分级、补全信息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做：意图/槽位提取、紧急度分级；不做：生成处理动作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上游聚合；下游方案 Agent；低置信转人工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方案 Agent（Planner）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政策顾问：RAG 检索、生成合规方案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做：检索 SOP/案例、出方案并标注证据与风险；不做：直接执行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上游分诊；下游执行 Agent；高风险发起审批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执行 Agent（Executor）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柜面操作员：Skill/MCP 执行、幂等、回滚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做：按批准方案调用系统、重试回滚；不做：擅自改方案、超授权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上游方案（须带审批凭证）；下游核验 Agent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核验 Agent（Verifier）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质检员：结果核验、满意度确认、证据包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做：比对证据、触发满意度确认、出核验报告；不做：重新执行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上游执行；输出核验报告交主控归档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复盘 Agent（Reviewer）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分析师：根因分析、知识沉淀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做：疑难案例复盘、知识库与 Skill 策略建议；不做：处理实时工单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上游核验/主控；知识写入需人工确认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权限约束：主控仅调度不写业务；执行 Agent 持最小业务 Token；所有操作留痕审计；敏感数据先脱敏后入库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端到端闭环流程：八环节自主闭环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168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输入 / 拆解 / 上下文 / 工具 / 验证 / 证据 / 审批回滚 / 经验沉淀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7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1790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88136" y="157276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任务输入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88136" y="193852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聚合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88136" y="22585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多渠道消息/工单/告警
归一化与去重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999232" y="148132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99232" y="148132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151790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84448" y="157276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任务拆解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584448" y="193852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主控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84448" y="22585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目标理解、任务分解
与优先级编排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495544" y="148132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95544" y="148132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95544" y="151790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080760" y="157276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上下文传递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080760" y="193852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AgentTeams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80760" y="22585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Matrix 房间 +
Ticket Context 共享状态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91856" y="148132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91856" y="148132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91856" y="151790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577072" y="157276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工具调用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577072" y="193852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执行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577072" y="22585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Skill + MCP
调用企业系统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02920" y="349300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02920" y="349300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52958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88136" y="358444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结果验证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88136" y="39502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核验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88136" y="427024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证据比对
满意度确认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2999232" y="349300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999232" y="349300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99232" y="352958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584448" y="358444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证据沉淀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84448" y="39502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主控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3584448" y="427024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Trace / Log
证据包归档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495544" y="349300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95544" y="349300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95544" y="352958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080760" y="358444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审批与回滚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080760" y="39502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人工 + 主控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080760" y="427024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高风险人工审批
幂等执行与回滚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7991856" y="3493008"/>
            <a:ext cx="23317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991856" y="3493008"/>
            <a:ext cx="457200" cy="141732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91856" y="3529584"/>
            <a:ext cx="457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577072" y="358444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经验沉淀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577072" y="39502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EA5A4"/>
                </a:solidFill>
                <a:latin typeface="微软雅黑" panose="020B0503020204020204" charset="-122"/>
                <a:ea typeface="微软雅黑" panose="020B0503020204020204" charset="-122"/>
              </a:rPr>
              <a:t>复盘 Agent</a:t>
            </a:r>
            <a:endParaRPr sz="950" b="1" i="0">
              <a:solidFill>
                <a:srgbClr val="0EA5A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8577072" y="427024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知识库更新
Skill 策略优化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57" name="Connector 56"/>
          <p:cNvCxnSpPr/>
          <p:nvPr/>
        </p:nvCxnSpPr>
        <p:spPr>
          <a:xfrm>
            <a:off x="2834640" y="2194560"/>
            <a:ext cx="164592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330952" y="2194560"/>
            <a:ext cx="164592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827264" y="2194560"/>
            <a:ext cx="164592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826756" y="4206240"/>
            <a:ext cx="165100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331079" y="4224655"/>
            <a:ext cx="164465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853182" y="4206240"/>
            <a:ext cx="146050" cy="0"/>
          </a:xfrm>
          <a:prstGeom prst="line">
            <a:avLst/>
          </a:prstGeom>
          <a:ln w="2540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502920" y="2898648"/>
            <a:ext cx="0" cy="594360"/>
          </a:xfrm>
          <a:prstGeom prst="line">
            <a:avLst/>
          </a:prstGeom>
          <a:ln w="25400">
            <a:solidFill>
              <a:srgbClr val="E6A2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206240" y="2898648"/>
            <a:ext cx="3749039" cy="566928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04030" y="3071876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AgentTeams 编排 · 工单状态机 · 全链路追踪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7" name="Rounded Rectangle 66"/>
          <p:cNvSpPr/>
          <p:nvPr/>
        </p:nvSpPr>
        <p:spPr>
          <a:xfrm>
            <a:off x="585470" y="5230495"/>
            <a:ext cx="11527155" cy="914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5321808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闭环要求 → 设计落点</a:t>
            </a:r>
            <a:endParaRPr sz="12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788920" y="5349240"/>
            <a:ext cx="2212848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98648" y="54132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任务输入/拆解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898648" y="570585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聚合 + 主控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5129784" y="5349240"/>
            <a:ext cx="2212848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39512" y="54132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上下文传递/工具调用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239512" y="570585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Matrix + Ticket Context + Skill/MCP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7470648" y="5349240"/>
            <a:ext cx="2212848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580376" y="54132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结果验证/证据沉淀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580376" y="570585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核验 Agent + Trace/Log/证据包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811512" y="5349240"/>
            <a:ext cx="2212848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21240" y="541324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审批回滚/经验沉淀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921240" y="570585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人工审批 + 幂等回滚 + 复盘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上下文传递与状态追踪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Ticket Context 作为单一事实源（SSOT），由 Leader 维护状态机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8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486400" cy="470916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26464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工单上下文 Ticket Context（共享状态）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5800" y="1956816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201168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ticket_id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331720" y="201168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唯一标识 · 关联 TraceID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85800" y="2523744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2578608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原始会话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331720" y="2578608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多渠道原文（脱敏后）· 会话指纹去重记录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5800" y="3090672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" y="314553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意图与分级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331720" y="3145536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intent / 紧急度 / 风险等级 / 情绪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5800" y="3657600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" y="37124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方案与审批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3712464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处理方案 · 证据引用 · 审批状态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85800" y="4224528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" y="427939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执行证据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331720" y="4279392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工具调用结果 · 凭证 · 幂等键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85800" y="4791456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" y="484632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核验结果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31720" y="4846320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核验报告 · 满意度反馈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85800" y="5358384"/>
            <a:ext cx="5120640" cy="51206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5413248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复盘标签</a:t>
            </a:r>
            <a:endParaRPr sz="9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331720" y="5413248"/>
            <a:ext cx="3429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案例标签 · 知识库关联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263640" y="13716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工单状态机（Leader 维护）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6263640" y="1810512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NEW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7415784" y="2002536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62088" y="1810512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TRIAGED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8714232" y="2002536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860536" y="1810512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PLANNED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10012680" y="2002536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158984" y="1810512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APPROVED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263640" y="237744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APPROVED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7415784" y="2569464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562088" y="237744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EXECUTED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4" name="Connector 43"/>
          <p:cNvCxnSpPr/>
          <p:nvPr/>
        </p:nvCxnSpPr>
        <p:spPr>
          <a:xfrm>
            <a:off x="8714232" y="2569464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860536" y="237744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VERIFIED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10012680" y="2569464"/>
            <a:ext cx="146304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158984" y="2377440"/>
            <a:ext cx="1152144" cy="3840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CLOSED</a:t>
            </a:r>
            <a:endParaRPr sz="8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9720072" y="3090672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8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ESCALATED</a:t>
            </a:r>
            <a:endParaRPr sz="8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9921240" y="2569464"/>
            <a:ext cx="274320" cy="521208"/>
          </a:xfrm>
          <a:prstGeom prst="line">
            <a:avLst/>
          </a:prstGeom>
          <a:ln w="15875">
            <a:solidFill>
              <a:srgbClr val="E6A23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63640" y="3246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→ AgentTeams 能力映射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6263640" y="3703320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703320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46520" y="375818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Matrix 房间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818120" y="3758184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任务消息、工具结果、中间结论实时传递，Human 可见可介入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263640" y="4325112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4325112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379976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共享存储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818120" y="4379976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对象存储 / 向量库承载 Ticket Context 与证据包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263640" y="4946904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263640" y="4946904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500176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状态追踪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7818120" y="5001768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Leader 维护状态机；心跳监控 Worker 运行状态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6263640" y="5568696"/>
            <a:ext cx="539496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68696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46520" y="562356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审计与回滚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7818120" y="5623560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全部上下文变更留痕，支持审批、回滚与复盘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Skill 体系设计：任务能力抽象层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9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18488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沉淀层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20240" y="1499616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review.case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920240" y="1819656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调用方：复盘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02920" y="2212848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212848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14016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核验层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920240" y="2295144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verify.result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920240" y="2615184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调用方：核验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3008376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09544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执行层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920240" y="3090672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exec.refund / exec.account_change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920240" y="3410712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调用方：执行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502920" y="3803904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3803904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05072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决策层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920240" y="388620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plan.policy_rag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920240" y="42062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调用方：方案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2920" y="4599432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4599432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800600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认知层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920240" y="468172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triage.intent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920240" y="500176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调用方：分诊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02920" y="5394960"/>
            <a:ext cx="5486400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02920" y="5394960"/>
            <a:ext cx="1234440" cy="713232"/>
          </a:xfrm>
          <a:prstGeom prst="roundRect">
            <a:avLst>
              <a:gd name="adj" fmla="val 3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596128"/>
            <a:ext cx="1234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接入层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920240" y="5477256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intake.ingest</a:t>
            </a:r>
            <a:endParaRPr sz="11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920240" y="5797296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调用方：聚合 Agent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355080" y="13716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每个 Skill 必须包含九要素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355080" y="1783080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1901952"/>
            <a:ext cx="48920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① 名称　② 用途　③ 输入/输出 Schema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④ 调用条件　⑤ 依赖工具　⑥ 失败处理机制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⑦ 安全边界　⑧ 复用价值　⑨ 与多 Agent 协同流程的关系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设计要点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355080" y="3639312"/>
            <a:ext cx="530352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639312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3694176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可复用</a:t>
            </a:r>
            <a:endParaRPr sz="10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543800" y="3694176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同一 Skill 可挂载到不同 Worker，跨团队复用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355080" y="4279392"/>
            <a:ext cx="530352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55080" y="4279392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4334256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可观测</a:t>
            </a:r>
            <a:endParaRPr sz="10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543800" y="4334256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Skill 调用全链路入 Trace，失败可回放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6355080" y="4919472"/>
            <a:ext cx="530352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55080" y="4919472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37960" y="4974336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可治理</a:t>
            </a:r>
            <a:endParaRPr sz="10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543800" y="4974336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注册至 AgentTeams 统一资产库，版本化发布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355080" y="5559552"/>
            <a:ext cx="530352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5559552"/>
            <a:ext cx="64008" cy="56692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5614416"/>
            <a:ext cx="960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可降级</a:t>
            </a:r>
            <a:endParaRPr sz="10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7543800" y="5614416"/>
            <a:ext cx="4069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Skill 内部封装重试 / 降级 / 人工兜底策略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6355080" y="6199632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完整九要素清单见《docs/Skill清单.md》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核心 Skill 样例：exec.refund（退款执行）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10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7223760" cy="4608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603504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要素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</a:t>
                      </a:r>
                      <a:endParaRPr sz="9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名称 / 用途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exec.refund：方案获批后按幂等规则调用支付网关完成退款并回写工单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 / 输出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输入 {ticket_id, refund_order, amount, currency, approved_by, approval_evidence, idempotency_key} → 输出 {status, refund_txn_id, evidence, timestamps}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调用条件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方案已批准；风险等级 ≤ 自动执行阈值；高风险携带人工审批凭证；账户白名单校验通过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依赖工具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支付网关 MCP Server、工单系统 MCP Server、审计日志服务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失败处理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指数退避重试 ≤3 次；幂等键冲突查既有结果不重复退款；连续失败转人工并生成回滚工单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安全边界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白名单账户 + 额度限制；密钥由 AgentTeams 注入不进 Prompt；全程审计留痕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复用价值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换货、退票、改签等资金操作复用同一“幂等执行 + 证据回写 + 失败升级”模式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协同关系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执行 Agent 调用；上游接方案 Agent 的批准方案；下游交核验 Agent；异常经主控升级人工</a:t>
                      </a:r>
                      <a:endParaRPr sz="9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55279" y="13716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调用时序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955279" y="1783080"/>
            <a:ext cx="36576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783080"/>
            <a:ext cx="64008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184708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方案 Agent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156448" y="2130552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批准方案（含审批凭证）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9784080" y="2441448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955279" y="2532888"/>
            <a:ext cx="36576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2532888"/>
            <a:ext cx="64008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25968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执行 Agent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156448" y="2880360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调用 exec.refund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9784080" y="3191256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3282696"/>
            <a:ext cx="36576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9" y="3282696"/>
            <a:ext cx="64008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56448" y="334670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支付网关 MCP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156448" y="3630168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退款受理 · 幂等校验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9784080" y="3941064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55279" y="4032504"/>
            <a:ext cx="36576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4032504"/>
            <a:ext cx="64008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409651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工单系统 MCP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56448" y="4379976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回写执行证据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9784080" y="4690872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955279" y="4782312"/>
            <a:ext cx="36576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79" y="4782312"/>
            <a:ext cx="64008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6448" y="48463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核验 Agent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156448" y="5129784"/>
            <a:ext cx="3337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比对凭证 · 满意度确认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MCP 与工具集成（外部系统连接层）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本方案采用 MCP 协议；未落地前以等价工具契约先行，迁移成本仅协议适配层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11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7818116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9583"/>
                <a:gridCol w="1064246"/>
                <a:gridCol w="1555437"/>
                <a:gridCol w="1227976"/>
                <a:gridCol w="859583"/>
                <a:gridCol w="941449"/>
                <a:gridCol w="1309842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工具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调用入口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关键参数（Schema）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权限范围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失败重试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幂等控制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审计与降级</a:t>
                      </a:r>
                      <a:endParaRPr sz="8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工单系统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ticket.create / update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{ticket_id, status, assignee, note}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工单读写（本部门）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重试 3 次 + 退避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按 ticket_id 唯一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审计全量；故障时降级邮件工单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支付网关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refund.create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{order_id, amount, currency, idempotency_key}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退款额度受限额策略约束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重试 3 次；失败回滚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幂等键全局唯一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审计含审批凭证；降级转人工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CRM/账户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account.update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{customer_id, field, old, new}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白名单字段，二次确认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重试 2 次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变更前后值对拍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审计含变更前后值；降级转人工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知识库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kb.search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{query, top_k, filters}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只读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重试 2 次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无状态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审计查询；降级返回缓存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通知渠道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notify.send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{channel, template, params}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仅模板发送，禁自定义内容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重试 3 次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消息 ID 去重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审计；降级换渠道</a:t>
                      </a:r>
                      <a:endParaRPr sz="8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41080" y="13716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从契约到 MCP 的迁移路径</a:t>
            </a:r>
            <a:endParaRPr sz="12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41080" y="1810512"/>
            <a:ext cx="30632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41080" y="1810512"/>
            <a:ext cx="82296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1901952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等价工具契约（初赛）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869680" y="2267712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REST/HTTP + OAuth2 · 参数 Schema · 审计 · 幂等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149840" y="2862072"/>
            <a:ext cx="0" cy="155448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41080" y="3017520"/>
            <a:ext cx="30632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41080" y="3017520"/>
            <a:ext cx="82296" cy="105156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3108960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MCP Server 适配器（复赛）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69680" y="3474720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将契约包装为 MCP 工具：tools/list · tools/call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10149840" y="4069080"/>
            <a:ext cx="0" cy="155448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641080" y="4224528"/>
            <a:ext cx="30632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41080" y="4224528"/>
            <a:ext cx="82296" cy="105156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0" y="4315968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 稳定调用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869680" y="4681728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Skill 只依赖工具名与 Schema，不感知协议差异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641080" y="5577840"/>
            <a:ext cx="3063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迁移成本：仅协议适配，不改工具调用链、Skill 接口与安全策略。</a:t>
            </a:r>
            <a:endParaRPr sz="9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可观测设计：Trace / Log / Metrics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遵循 OpenTelemetry GenAI 语义，覆盖 Skill、MCP、RAG、LLM 全链路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12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027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602736" cy="420624"/>
          </a:xfrm>
          <a:prstGeom prst="roundRect">
            <a:avLst>
              <a:gd name="adj" fmla="val 25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26464"/>
            <a:ext cx="36027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Trace 全链路轨迹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192024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每工单一个 TraceID 贯穿闭环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Skill 调用 / MCP 工具 / RAG 检索 / LLM 推理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证据包 + 执行截图可回放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33672" y="1371600"/>
            <a:ext cx="36027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371600"/>
            <a:ext cx="3602736" cy="420624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33672" y="1426464"/>
            <a:ext cx="36027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Log 审计日志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416552" y="192024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审批记录、权限变更、异常栈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敏感操作留痕，满足合规审计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与 TraceID 关联检索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964424" y="1371600"/>
            <a:ext cx="3602736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371600"/>
            <a:ext cx="3602736" cy="420624"/>
          </a:xfrm>
          <a:prstGeom prst="roundRect">
            <a:avLst>
              <a:gd name="adj" fmla="val 25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64424" y="1426464"/>
            <a:ext cx="36027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Metrics 业务与成本指标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147304" y="1920240"/>
            <a:ext cx="32461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工单时效 / 一次解决率 / 人工介入率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Token 消耗 / 模型调用量 / 错误率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告警：异常率、超时、额度超限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采集与消费链路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02920" y="3840480"/>
            <a:ext cx="2776220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 / Skill / MCP / RAG / LLM 推理</a:t>
            </a:r>
            <a:endParaRPr sz="9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3279140" y="4087368"/>
            <a:ext cx="109728" cy="0"/>
          </a:xfrm>
          <a:prstGeom prst="line">
            <a:avLst/>
          </a:prstGeom>
          <a:ln w="1905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88868" y="3840480"/>
            <a:ext cx="1105217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OTLP 采集器</a:t>
            </a:r>
            <a:endParaRPr sz="9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4494085" y="4087368"/>
            <a:ext cx="109728" cy="0"/>
          </a:xfrm>
          <a:prstGeom prst="line">
            <a:avLst/>
          </a:prstGeom>
          <a:ln w="1905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603813" y="3840480"/>
            <a:ext cx="2022157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SLS 存储 + AgentLoop 观测</a:t>
            </a:r>
            <a:endParaRPr sz="9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6625970" y="4087368"/>
            <a:ext cx="109728" cy="0"/>
          </a:xfrm>
          <a:prstGeom prst="line">
            <a:avLst/>
          </a:prstGeom>
          <a:ln w="19050">
            <a:solidFill>
              <a:srgbClr val="0EA5A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735698" y="3840480"/>
            <a:ext cx="1817052" cy="50292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实时监控告警 / 离线评估</a:t>
            </a:r>
            <a:endParaRPr sz="9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02920" y="4663440"/>
            <a:ext cx="11185855" cy="530352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63440"/>
            <a:ext cx="64008" cy="53035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718304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在线监控</a:t>
            </a:r>
            <a:endParaRPr sz="11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2194560" y="4718304"/>
            <a:ext cx="92656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仪表盘实时查看 Worker 用量、模型调用、Token 趋势，异常自动告警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02920" y="5285232"/>
            <a:ext cx="11185855" cy="530352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285232"/>
            <a:ext cx="64008" cy="53035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340096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离线评估</a:t>
            </a:r>
            <a:endParaRPr sz="11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194560" y="5340096"/>
            <a:ext cx="92656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基于评估集量化意图识别准确率、方案合规率、一次解决率，驱动优化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02920" y="5907024"/>
            <a:ext cx="11185855" cy="530352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907024"/>
            <a:ext cx="64008" cy="53035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61888"/>
            <a:ext cx="1371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评审证据</a:t>
            </a:r>
            <a:endParaRPr sz="11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194560" y="5961888"/>
            <a:ext cx="926561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每工单输出 Trace 报告 + 证据包（截图/日志/结果凭证）作为执行证据沉淀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RAG 与上下文增强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四项上下文能力全覆盖，满足赛题“至少实现 2 项”；RAG 贯穿检索 → 证据对齐 → 决策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13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2724912" cy="13167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2724912" cy="365760"/>
          </a:xfrm>
          <a:prstGeom prst="roundRect">
            <a:avLst>
              <a:gd name="adj" fmla="val 25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53896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Agent 记忆存储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0936" y="1892808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短期：工单上下文（Redis）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长期：历史案例向量化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5848" y="1417320"/>
            <a:ext cx="2724912" cy="13167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55848" y="1417320"/>
            <a:ext cx="2724912" cy="365760"/>
          </a:xfrm>
          <a:prstGeom prst="roundRect">
            <a:avLst>
              <a:gd name="adj" fmla="val 25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1453896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知识库 RAG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483864" y="1892808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SOP / 产品手册 / 历史工单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混合检索 + 重排 + 引用溯源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" y="2880360"/>
            <a:ext cx="2724912" cy="13167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880360"/>
            <a:ext cx="2724912" cy="365760"/>
          </a:xfrm>
          <a:prstGeom prst="roundRect">
            <a:avLst>
              <a:gd name="adj" fmla="val 25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916936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共享状态管理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0936" y="3355848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Ticket Context 单一事实源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状态机驱动流转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355848" y="2880360"/>
            <a:ext cx="2724912" cy="131673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355848" y="2880360"/>
            <a:ext cx="2724912" cy="365760"/>
          </a:xfrm>
          <a:prstGeom prst="roundRect">
            <a:avLst>
              <a:gd name="adj" fmla="val 25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2916936"/>
            <a:ext cx="256032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轨迹可观测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483864" y="3355848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TraceID 贯穿全链路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证据包可回放可审计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383280" y="4315968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4 项全覆盖 ✓ 满足 ≥2 项要求</a:t>
            </a:r>
            <a:endParaRPr sz="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126480" y="137160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RAG 决策链路（防幻觉设计）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26480" y="1783080"/>
            <a:ext cx="54864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6480" y="1783080"/>
            <a:ext cx="82296" cy="65836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82512" y="1847088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工单 + 分级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778240" y="1847088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方案 Agent 判断是否需要检索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8869680" y="2441448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26480" y="2532888"/>
            <a:ext cx="54864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80" y="2532888"/>
            <a:ext cx="82296" cy="658368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2596896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MCP 接入数据源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778240" y="2596896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知识库 / 历史案例 / 业务数据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6" name="Connector 35"/>
          <p:cNvCxnSpPr/>
          <p:nvPr/>
        </p:nvCxnSpPr>
        <p:spPr>
          <a:xfrm>
            <a:off x="8869680" y="3191256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126480" y="3282696"/>
            <a:ext cx="54864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3282696"/>
            <a:ext cx="82296" cy="65836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3346704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Skill 检索 + 证据对齐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78240" y="3346704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plan.policy_rag：混合检索 + 重排 + 引用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8869680" y="3941064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126480" y="4032504"/>
            <a:ext cx="54864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26480" y="4032504"/>
            <a:ext cx="82296" cy="658368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4096512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证据充分性判断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78240" y="4096512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Agent 判定证据是否足以支撑决策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8869680" y="4690872"/>
            <a:ext cx="0" cy="9144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126480" y="4782312"/>
            <a:ext cx="5486400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26480" y="4782312"/>
            <a:ext cx="82296" cy="658368"/>
          </a:xfrm>
          <a:prstGeom prst="rect">
            <a:avLst/>
          </a:prstGeom>
          <a:solidFill>
            <a:srgbClr val="E54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2" y="484632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生成方案 / 升级人工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8778240" y="484632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证据不足则标注并升级，杜绝幻觉执行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安全边界、审批与回滚、审计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高风险动作人工确认：审批凭证链 + 幂等执行 + 回滚审计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14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5853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398"/>
                <a:gridCol w="4024346"/>
                <a:gridCol w="5698109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风险级别</a:t>
                      </a:r>
                      <a:endParaRPr sz="10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典型动作</a:t>
                      </a:r>
                      <a:endParaRPr sz="10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执行策略</a:t>
                      </a:r>
                      <a:endParaRPr sz="10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低风险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修改工单备注、发送通知、资料补全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规则校验后自动执行，全程留痕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中风险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换货、非敏感信息变更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方案 Agent 生成方案 + 规则校验，限额内自动执行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高风险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退款、账户敏感变更、批量操作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人工审批（大额双人复核）后执行，支持回滚</a:t>
                      </a:r>
                      <a:endParaRPr sz="100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审批与回滚机制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3520440"/>
            <a:ext cx="54864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520440"/>
            <a:ext cx="64008" cy="54864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" y="356616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审批凭证链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75688" y="3566160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审批意见、审批人、时间、动作哈希进入执行上下文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4142232"/>
            <a:ext cx="54864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142232"/>
            <a:ext cx="64008" cy="54864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4187952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幂等控制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075688" y="4187952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幂等键全局唯一，重复请求不重复执行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764024"/>
            <a:ext cx="54864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764024"/>
            <a:ext cx="64008" cy="54864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809744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回滚机制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075688" y="4809744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每类动作预置回滚脚本，执行失败自动回滚并通知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02920" y="5385816"/>
            <a:ext cx="548640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385816"/>
            <a:ext cx="64008" cy="548640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431536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额度控制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075688" y="5431536"/>
            <a:ext cx="3886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单笔 / 单日限额，超限强制人工审批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0" y="31089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审计与合规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30352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520440"/>
            <a:ext cx="64008" cy="5486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35661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RBAC 最小权限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38160" y="356616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Worker 仅持本职 Token，跨权限须主控路由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400800" y="4142232"/>
            <a:ext cx="530352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4142232"/>
            <a:ext cx="64008" cy="5486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4187952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敏感数据脱敏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138160" y="418795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会话原文先脱敏再入库，满意度数据匿名化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400800" y="4764024"/>
            <a:ext cx="530352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764024"/>
            <a:ext cx="64008" cy="5486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809744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密钥治理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138160" y="480974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密钥由 AgentTeams 注入，不进入 Prompt / 日志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400800" y="5385816"/>
            <a:ext cx="5303520" cy="548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5385816"/>
            <a:ext cx="64008" cy="54864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01968" y="5431536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全程审计</a:t>
            </a:r>
            <a:endParaRPr sz="10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138160" y="5431536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审批、执行、回滚全部留痕，支持合规追溯</a:t>
            </a:r>
            <a:endParaRPr sz="8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18585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安全设计贯穿 AgentTeams：团队权限隔离、模型配置管控、监控仪表盘异常识别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异常分支与容错设计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每个异常都有“检测方式 + 处理策略”，确保闭环不中断、不失控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15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85853" cy="46085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872"/>
                <a:gridCol w="4024346"/>
                <a:gridCol w="4417635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异常场景</a:t>
                      </a:r>
                      <a:endParaRPr sz="10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检测方式</a:t>
                      </a:r>
                      <a:endParaRPr sz="10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处理策略</a:t>
                      </a:r>
                      <a:endParaRPr sz="10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0E2A4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意图置信度低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分诊 Agent 输出置信度分数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追问补全信息；仍不满足则转人工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重复工单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会话指纹 / 语义相似度去重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合并至既有工单，保留关联记录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工具调用失败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MCP 返回错误码 + Trace 异常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指数退避重试 ≤3 次；失败升级人工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执行结果异常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核验 Agent 比对金额 / 状态 / 凭证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标记异常 → 自动回滚或人工介入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检索证据不足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plan.policy_rag 返回证据得分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方案标注“证据不足”，不执行并升级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审批超时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审批台超时定时器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升级提醒；紧急工单提升优先级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模型不可用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健康检查 / 调用错误率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切换备用模型或规则引擎降级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敏感信息泄露风险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内容合规检测 / 脱敏过滤器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F2937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拒绝写入、告警并隔离该工单</a:t>
                      </a:r>
                      <a:endParaRPr sz="950" b="0" i="0">
                        <a:solidFill>
                          <a:srgbClr val="1F2937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45720" marR="45720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89320"/>
            <a:ext cx="1118585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降级原则：先保可用 → 再保正确 → 最后保自动化；任何无法自动恢复的路径都收敛到人工（Human-in-the-loop）。</a:t>
            </a:r>
            <a:endParaRPr sz="105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可行性与落地计划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四阶段推进：初赛设计 → 复赛最小闭环 → 决赛生产化验证 → 赛后开源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16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2670048" cy="566928"/>
          </a:xfrm>
          <a:prstGeom prst="roundRect">
            <a:avLst>
              <a:gd name="adj" fmla="val 2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813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初赛 · 当前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" y="175564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方向与方案设计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4088" y="21945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方案设计 + 架构图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4088" y="267004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7 个 Agent Identity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04088" y="314553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7 个 Skill 九要素清单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04088" y="362102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MCP 等价契约与迁移路径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234440" y="4343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endParaRPr sz="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300984" y="141732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00984" y="1417320"/>
            <a:ext cx="2670048" cy="566928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8144" y="14813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复赛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438144" y="175564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可运行最小闭环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502152" y="21945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AgentTeams 本地部署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02152" y="267004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3+ Worker 跑通闭环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02152" y="314553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Skill 落地与样例输入输出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02152" y="362102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运行证据（Trace/日志）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032504" y="4343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进行中</a:t>
            </a:r>
            <a:endParaRPr sz="9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099048" y="141732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99048" y="1417320"/>
            <a:ext cx="2670048" cy="566928"/>
          </a:xfrm>
          <a:prstGeom prst="roundRect">
            <a:avLst>
              <a:gd name="adj" fmla="val 20000"/>
            </a:avLst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14813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决赛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236208" y="175564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生产化验证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300216" y="21945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MCP 接入真实/仿真企业系统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300216" y="267004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可观测 + 离线评估体系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300216" y="314553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审批 / 回滚 / 安全演练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300216" y="362102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压测与多租户隔离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830568" y="4343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计划</a:t>
            </a:r>
            <a:endParaRPr sz="950" b="1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8897112" y="1417320"/>
            <a:ext cx="2670048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897112" y="1417320"/>
            <a:ext cx="2670048" cy="566928"/>
          </a:xfrm>
          <a:prstGeom prst="roundRect">
            <a:avLst>
              <a:gd name="adj" fmla="val 2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34272" y="14813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赛后</a:t>
            </a:r>
            <a:endParaRPr sz="12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034272" y="175564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开放与复用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098280" y="2194560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开源 Skill 库与闭环模板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098280" y="2670048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MCP 工具契约标准化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098280" y="3145536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复盘数据集模板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098280" y="3621024"/>
            <a:ext cx="2331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• 跨场景复制（IT/政务/金融）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9628632" y="4343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950" b="1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计划</a:t>
            </a:r>
            <a:endParaRPr sz="950" b="1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02920" y="5212080"/>
            <a:ext cx="11185855" cy="91440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30352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可行性要点</a:t>
            </a:r>
            <a:endParaRPr sz="12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2651760" y="53949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组件可得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703320" y="53949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AgentTeams 云服务 / 开源部署 + 阿里云生态，零自研框架成本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651760" y="566928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依赖可控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03320" y="56692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仅需 Docker + LLM API Key，2-3 人即可推进复赛闭环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651760" y="594360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B7A79"/>
                </a:solidFill>
                <a:latin typeface="微软雅黑" panose="020B0503020204020204" charset="-122"/>
                <a:ea typeface="微软雅黑" panose="020B0503020204020204" charset="-122"/>
              </a:rPr>
              <a:t>演进平滑</a:t>
            </a:r>
            <a:endParaRPr sz="1000" b="1" i="0">
              <a:solidFill>
                <a:srgbClr val="0B7A79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703320" y="594360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契约先行 → MCP 适配 → 生产化，调用链无需重构</a:t>
            </a:r>
            <a:endParaRPr sz="95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开放 / 开源价值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4088" y="93268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输出可复用资产：闭环模板、Skill 库、MCP 契约、评估数据集</a:t>
            </a:r>
            <a:endParaRPr sz="11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17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2670048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2670048" cy="73152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62763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客服闭环编排模板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9224" y="228600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Agent Teams 定义 + 工单状态机 + 上下文 Schema，开箱即用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00984" y="1417320"/>
            <a:ext cx="2670048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00984" y="1417320"/>
            <a:ext cx="2670048" cy="7315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47288" y="162763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Skill 库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447288" y="228600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7 个核心 Skill 九要素文档 + 可运行实现（复赛）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099048" y="1417320"/>
            <a:ext cx="2670048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9048" y="1417320"/>
            <a:ext cx="2670048" cy="73152"/>
          </a:xfrm>
          <a:prstGeom prst="rect">
            <a:avLst/>
          </a:prstGeom>
          <a:solidFill>
            <a:srgbClr val="E6A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162763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MCP 工具契约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245352" y="228600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工单 / 支付 / CRM / 知识库 / 通知的接口契约与适配器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897112" y="1417320"/>
            <a:ext cx="2670048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897112" y="1417320"/>
            <a:ext cx="2670048" cy="73152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3416" y="1627632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复盘数据集模板</a:t>
            </a:r>
            <a:endParaRPr sz="11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43416" y="2286000"/>
            <a:ext cx="23774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疑难案例标注、评估指标与复盘报告模板</a:t>
            </a:r>
            <a:endParaRPr sz="85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可复制场景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1124712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电商售后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1773936" y="3840480"/>
            <a:ext cx="1527048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IT 服务台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3447288" y="3840480"/>
            <a:ext cx="1124712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政务热线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4718304" y="3840480"/>
            <a:ext cx="1124712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金融客服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89320" y="3840480"/>
            <a:ext cx="1728216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物流 / 出行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863840" y="3840480"/>
            <a:ext cx="1728216" cy="45720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SaaS 订阅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0292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生态协同</a:t>
            </a:r>
            <a:endParaRPr sz="12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502920" y="4937760"/>
            <a:ext cx="11185855" cy="50292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4937760"/>
            <a:ext cx="64008" cy="50292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8348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AgentTeams / HiClaw 社区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160520" y="4983480"/>
            <a:ext cx="729965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沉淀客服团队模板与 Worker 配置，反向贡献社区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02920" y="5513832"/>
            <a:ext cx="11185855" cy="50292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5513832"/>
            <a:ext cx="64008" cy="50292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59552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AgentLoop 观测生态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160520" y="5559552"/>
            <a:ext cx="729965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共享评估指标与 Trace 语义，降低多团队适配成本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502920" y="6089904"/>
            <a:ext cx="11185855" cy="502920"/>
          </a:xfrm>
          <a:prstGeom prst="roundRect">
            <a:avLst>
              <a:gd name="adj" fmla="val 14000"/>
            </a:avLst>
          </a:prstGeom>
          <a:solidFill>
            <a:srgbClr val="F4F7FA"/>
          </a:solidFill>
          <a:ln w="9525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6089904"/>
            <a:ext cx="64008" cy="50292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135624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企业 IM 入口</a:t>
            </a:r>
            <a:endParaRPr sz="105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160520" y="6135624"/>
            <a:ext cx="729965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钉钉 / 飞书 / 企业微信发起任务，天然支持 Human-in-the-loop</a:t>
            </a:r>
            <a:endParaRPr sz="9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475488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402336"/>
            <a:ext cx="96012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0E2A47"/>
                </a:solidFill>
                <a:latin typeface="微软雅黑" panose="020B0503020204020204" charset="-122"/>
                <a:ea typeface="微软雅黑" panose="020B0503020204020204" charset="-122"/>
              </a:rPr>
              <a:t>项目进展与总结</a:t>
            </a:r>
            <a:endParaRPr sz="2400" b="1" i="0">
              <a:solidFill>
                <a:srgbClr val="0E2A4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1243584"/>
            <a:ext cx="11185855" cy="15240"/>
          </a:xfrm>
          <a:prstGeom prst="rect">
            <a:avLst/>
          </a:prstGeom>
          <a:solidFill>
            <a:srgbClr val="E5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18 / 19</a:t>
            </a:r>
            <a:endParaRPr sz="10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900" b="0" i="0">
              <a:solidFill>
                <a:srgbClr val="64748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5486400" cy="32918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486400" cy="457200"/>
          </a:xfrm>
          <a:prstGeom prst="roundRect">
            <a:avLst>
              <a:gd name="adj" fmla="val 20000"/>
            </a:avLst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72184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已完成（初赛）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方案设计：Leader-Worker 五层架构 + 八环节闭环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7 个 Agent 的 Identity 清单（附录 A）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29260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7 个核心 Skill 九要素完整定义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MCP 工具契约与迁移路径设计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样例输入输出与校验脚本（可运行）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42976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EA043"/>
                </a:solidFill>
                <a:latin typeface="微软雅黑" panose="020B0503020204020204" charset="-122"/>
                <a:ea typeface="微软雅黑" panose="020B0503020204020204" charset="-122"/>
              </a:rPr>
              <a:t>✓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本方案 PPT 与交付文档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309360" y="1417320"/>
            <a:ext cx="5394960" cy="3291840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39496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4721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下一步（复赛）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基于 AgentTeams 本地部署，创建 3+ Worker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0" y="24688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跑通最小闭环：聚合 → 分诊 → 方案 → 执行 → 核验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0" y="29260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落地 2-3 个 Skill 与 MCP 适配器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83680" y="33832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产出样例输入输出与运行证据（Trace / 日志 / 截图）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583680" y="384048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B82F6"/>
                </a:solidFill>
                <a:latin typeface="微软雅黑" panose="020B0503020204020204" charset="-122"/>
                <a:ea typeface="微软雅黑" panose="020B0503020204020204" charset="-122"/>
              </a:rPr>
              <a:t>→ </a:t>
            </a:r>
            <a:r>
              <a:rPr sz="1000" b="0" i="0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</a:rPr>
              <a:t>接入离线评估，量化一次解决率与人工介入率</a:t>
            </a:r>
            <a:endParaRPr sz="1000" b="0" i="0">
              <a:solidFill>
                <a:srgbClr val="1F293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85855" cy="1097280"/>
          </a:xfrm>
          <a:prstGeom prst="roundRect">
            <a:avLst>
              <a:gd name="adj" fmla="val 10000"/>
            </a:avLst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30368"/>
            <a:ext cx="10454335" cy="384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总结：</a:t>
            </a:r>
            <a:r>
              <a:rPr sz="1200" b="0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让客服从“单点问答”走向“自主闭环”——多 Agent 协同完成接入、分诊、方案、执行、核验与沉淀，</a:t>
            </a:r>
            <a:endParaRPr sz="1200" b="0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可执行、可核验、可复盘、可进化，并以 AgentTeams 为底座平滑走向生产。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4800600"/>
            <a:ext cx="2011680" cy="2011680"/>
          </a:xfrm>
          <a:prstGeom prst="ellipse">
            <a:avLst/>
          </a:prstGeom>
          <a:noFill/>
          <a:ln w="19050">
            <a:solidFill>
              <a:srgbClr val="1B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594360"/>
            <a:ext cx="640080" cy="640080"/>
          </a:xfrm>
          <a:prstGeom prst="ellipse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谢谢观看</a:t>
            </a:r>
            <a:endParaRPr sz="44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5ED0CE"/>
                </a:solidFill>
                <a:latin typeface="微软雅黑" panose="020B0503020204020204" charset="-122"/>
                <a:ea typeface="微软雅黑" panose="020B0503020204020204" charset="-122"/>
              </a:rPr>
              <a:t>智服方舟 · 多智能体客服自主闭环平台</a:t>
            </a:r>
            <a:endParaRPr sz="1800" b="1" i="0">
              <a:solidFill>
                <a:srgbClr val="5ED0C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0" y="4160520"/>
            <a:ext cx="12191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恳请各位评委老师指正</a:t>
            </a:r>
            <a:endParaRPr sz="1300" b="0" i="0">
              <a:solidFill>
                <a:srgbClr val="9AABB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153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团队成员：_____</a:t>
            </a:r>
            <a:r>
              <a:rPr lang="zh-CN"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龙泓宇</a:t>
            </a:r>
            <a:r>
              <a:rPr lang="en-US" altLang="zh-CN"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_______　　　　联系方式：_</a:t>
            </a:r>
            <a:r>
              <a:rPr lang="en-US"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90565130</a:t>
            </a:r>
            <a:r>
              <a:rPr sz="1000" b="0" i="0">
                <a:solidFill>
                  <a:srgbClr val="9AABBE"/>
                </a:solidFill>
                <a:latin typeface="微软雅黑" panose="020B0503020204020204" charset="-122"/>
                <a:ea typeface="微软雅黑" panose="020B0503020204020204" charset="-122"/>
              </a:rPr>
              <a:t>___________</a:t>
            </a:r>
            <a:endParaRPr sz="1000" b="0" i="0">
              <a:solidFill>
                <a:srgbClr val="9AABB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8631</Words>
  <Application>WPS 演示</Application>
  <PresentationFormat>On-screen Show (4:3)</PresentationFormat>
  <Paragraphs>1160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斯卡特奇卡</cp:lastModifiedBy>
  <cp:revision>6</cp:revision>
  <dcterms:created xsi:type="dcterms:W3CDTF">2013-01-27T09:14:00Z</dcterms:created>
  <dcterms:modified xsi:type="dcterms:W3CDTF">2026-08-16T14:41:12Z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173691A4A8A149A099936BBAF02384D3_12</vt:lpwstr>
  </property>
  <property fmtid="{D5CDD505-2E9C-101B-9397-08002B2CF9AE}" pid="3" name="KSOProductBuildVer">
    <vt:lpwstr>2052-12.1.0.19302</vt:lpwstr>
  </property>
</Properties>
</file>