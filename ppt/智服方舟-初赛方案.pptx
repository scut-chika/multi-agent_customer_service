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182880"/>
            <a:ext cx="2468880" cy="2468880"/>
          </a:xfrm>
          <a:prstGeom prst="ellipse">
            <a:avLst/>
          </a:prstGeom>
          <a:noFill/>
          <a:ln w="19050">
            <a:solidFill>
              <a:srgbClr val="1B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01400" y="0"/>
            <a:ext cx="822960" cy="82296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5806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6245352"/>
            <a:ext cx="219456" cy="219456"/>
          </a:xfrm>
          <a:prstGeom prst="ellipse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128016" cy="8686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7373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智服方舟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6736" y="2724912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多智能体客服自主闭环平台</a:t>
            </a:r>
            <a:endParaRPr sz="260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7244" y="337235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Multi-Agent Customer Service Autonomous Closed-Loop Platform</a:t>
            </a:r>
            <a:endParaRPr sz="12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05840" y="3950208"/>
            <a:ext cx="3840480" cy="19050"/>
          </a:xfrm>
          <a:prstGeom prst="rect">
            <a:avLst/>
          </a:prstGeom>
          <a:solidFill>
            <a:srgbClr val="2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方向二 · 智能客服自主闭环</a:t>
            </a:r>
            <a:r>
              <a:rPr sz="13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　｜　初赛：方向与方案设计</a:t>
            </a:r>
            <a:endParaRPr sz="13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05840" y="4892040"/>
            <a:ext cx="2761487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AgentTeams 协同底座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931919" y="4892040"/>
            <a:ext cx="2432303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Leader-Worker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8814" y="489204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08974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MCP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759950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RAG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710926" y="4892040"/>
            <a:ext cx="786384" cy="384048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 w="12700">
            <a:solidFill>
              <a:srgbClr val="2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sz="105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3185" y="5746115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让客服从“单点问答”走向“自主闭环”：接入 → 分诊 → 方案 → 执行 → 核验 → 复盘</a:t>
            </a:r>
            <a:endParaRPr sz="125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02180" y="6198870"/>
            <a:ext cx="9144000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参赛团队：___</a:t>
            </a:r>
            <a:r>
              <a:rPr 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方舟队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_________　　日期：2026-08</a:t>
            </a:r>
            <a:endParaRPr sz="10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2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9032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背景与业务价值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多渠道客服的五大痛点与量化目标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25112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21224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总体方案架构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07992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接入 / 协同 / 能力 / 数据 / 治理五层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47304" y="1572768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11896" y="1737360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43416" y="1755648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多 Agent 协同设计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30184" y="2377440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Leader-Worker 角色编排与 AgentTeams 映射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99032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端到端闭环流程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八环节闭环：输入 → 拆解 → 上下文 → 工具 → 验证 → 证据 → 审批 → 沉淀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25112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9704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21224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与 MCP 工具集成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7992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九要素清单与工具契约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147304" y="3163824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11896" y="3328416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43416" y="3346704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可观测与 RAG 增强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0184" y="3968496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Trace/Log/Metrics 与四类上下文能力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99032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安全与异常分支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5800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审批 / 回滚 / 审计 / 容错降级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25112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9704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221224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可行性与落地计划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07992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初赛 → 复赛 → 决赛 → 生产四阶段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147304" y="4754880"/>
            <a:ext cx="3602736" cy="1389888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11896" y="4919472"/>
            <a:ext cx="566928" cy="457200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43416" y="4937760"/>
            <a:ext cx="25511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项目进展与总结</a:t>
            </a:r>
            <a:endParaRPr sz="14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30184" y="5559552"/>
            <a:ext cx="3255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当前进展、开放开源与下一步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背景与业务价值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多渠道客服场景：重复、分诊慢、跨系统执行慢、缺核验、难沉淀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3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977639" cy="3977639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业务场景：多渠道会话聚合</a:t>
            </a:r>
            <a:endParaRPr sz="15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121408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286000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18541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邮件渠道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34440" y="239572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Mail · 工单导入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2743200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2907792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80720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在线客服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301752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Web IM · 实时会话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3364992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529584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429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电话转写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ASR 通话文本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3986784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4151376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0507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社媒评论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34440" y="42611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微博/小红书/微信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40" y="4608576"/>
            <a:ext cx="34290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773168"/>
            <a:ext cx="128016" cy="18288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6725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企业工单系统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34440" y="48828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既有 Ticketing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266944"/>
            <a:ext cx="3520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E6A23C"/>
                </a:solidFill>
                <a:latin typeface="微软雅黑" panose="020B0503020204020204" charset="-122"/>
                <a:ea typeface="微软雅黑" panose="020B0503020204020204" charset="-122"/>
              </a:rPr>
              <a:t>同一用户多渠道重复发起咨询</a:t>
            </a:r>
            <a:endParaRPr sz="1000" b="1" i="0">
              <a:solidFill>
                <a:srgbClr val="E6A23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→ 会话指纹去重、工单合并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五大业务痛点</a:t>
            </a:r>
            <a:endParaRPr sz="15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800600" y="1874519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029200" y="2039111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2093975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68112" y="1947671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渠道割裂，重复工单率高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68112" y="2240279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消息散落多渠道，无统一聚合与去重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800600" y="2624327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29200" y="2788919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10912" y="2843783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68112" y="2697479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人工分诊，响应慢且标准不一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68112" y="2990087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意图依赖经验，紧急/高危识别不及时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00600" y="3374135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029200" y="3538727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10912" y="3593591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68112" y="3447287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跨系统执行慢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68112" y="3739895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退款、换货、账户变更需多系统人工操作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800600" y="4123943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29200" y="4288535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10912" y="4343399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468112" y="4197095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执行结果缺核验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68112" y="4489703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无自动核验，满意度确认滞后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800600" y="4873751"/>
            <a:ext cx="6858000" cy="676656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029200" y="5038343"/>
            <a:ext cx="347472" cy="347472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10912" y="5093207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468112" y="4946903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经验难沉淀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68112" y="5239511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疑难案例复盘靠手工，知识库更新慢</a:t>
            </a:r>
            <a:endParaRPr sz="9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502920" y="5715000"/>
            <a:ext cx="11185855" cy="658368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85800" y="581558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价值目标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2331720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04872" y="5861304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工单处理时效 ↓70%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4672584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45736" y="5861304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重复工单率 ↓60%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013448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86600" y="5861304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一次解决率 ↑40%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54312" y="5788152"/>
            <a:ext cx="2212848" cy="512064"/>
          </a:xfrm>
          <a:prstGeom prst="roundRect">
            <a:avLst>
              <a:gd name="adj" fmla="val 18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7464" y="5861304"/>
            <a:ext cx="2084831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人工介入率 ≤15%（仅高风险/异常）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总体方案架构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 AgentTeams 为协同底座：接入 / 协同 / 能力 / 数据 / 治理五层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4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" y="1481328"/>
            <a:ext cx="82296" cy="3474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81328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7452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邮件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188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在线客服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34924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电话转写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08660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社媒评论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23960" y="147218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工单系统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029968"/>
            <a:ext cx="11185855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" y="2139696"/>
            <a:ext cx="82296" cy="12618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139696"/>
            <a:ext cx="1051560" cy="1261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协同层
AgentTeams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74520" y="2121408"/>
            <a:ext cx="2606040" cy="548640"/>
          </a:xfrm>
          <a:prstGeom prst="roundRect">
            <a:avLst>
              <a:gd name="adj" fmla="val 5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主控 Agent（Leader）
编排 · 状态追踪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21396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聚合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63440" y="2633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分诊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63440" y="3127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44768" y="2139696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44768" y="2633472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44768" y="312724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281160" y="2121408"/>
            <a:ext cx="23774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房间传递任务与中间结论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心跳监控 Worker 运行状态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RBAC 权限与人工介入闸口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Worker 模板批量部署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3602736"/>
            <a:ext cx="11185855" cy="8229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" y="3712464"/>
            <a:ext cx="82296" cy="603504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3712464"/>
            <a:ext cx="105156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能力层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874520" y="3694176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能力抽象层
7 个核心 Skill（接入/认知/决策/执行/核验/沉淀）</a:t>
            </a:r>
            <a:endParaRPr sz="9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6190488" y="3968496"/>
            <a:ext cx="438912" cy="0"/>
          </a:xfrm>
          <a:prstGeom prst="line">
            <a:avLst/>
          </a:prstGeom>
          <a:ln w="22225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12280" y="3694176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MCP 工具连接层
工单 · 支付 · ERP · CRM · 知识库 · 短信/IM</a:t>
            </a:r>
            <a:endParaRPr sz="9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4517136"/>
            <a:ext cx="11185855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" y="4626864"/>
            <a:ext cx="82296" cy="43891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626864"/>
            <a:ext cx="105156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数据层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87452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知识库 RAG（向量库）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02336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 / 案例库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7220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记忆（Redis）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321040" y="464515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观测存储（SLS · OTLP）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02920" y="5266944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" y="5376672"/>
            <a:ext cx="82296" cy="34747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5376672"/>
            <a:ext cx="105156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治理·
可观测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87452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AgentLoop 全链路观测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56616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审计日志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25780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人工审批台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94944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模型管理（多供应商）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641080" y="536752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告警与离线评估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复用 AgentTeams 平台能力：多模型供应商接入、MCP 服务管理、Worker 模板、监控仪表盘、团队权限隔离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多 Agent 协同设计：Leader-Worker 角色编排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 个 Leader + 6 个职能 Worker，分工明确、边界清晰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5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42232" y="1371600"/>
            <a:ext cx="3904487" cy="86868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44475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主控 Agent · Leader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5112" y="184708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任务拆解 / 编排调度 / 上下文路由 / 状态追踪 / 升级决策</a:t>
            </a:r>
            <a:endParaRPr sz="900" b="0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接入与认知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7512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7512" y="3072384"/>
            <a:ext cx="64008" cy="80467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聚合 Agent · Intake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多渠道接入 / 归一化 / 去重建档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" y="3986784"/>
            <a:ext cx="64008" cy="80467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分诊 Agent · Triage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104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意图识别 / 分级 / 信息补全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 flipH="1">
            <a:off x="2308860" y="2240280"/>
            <a:ext cx="3785616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88536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88536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88536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决策与执行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53128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07238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 Agent · Planner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17720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RAG 检索 / 生成合规方案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453128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3128" y="398678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 Agent · Executor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17720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Skill+MCP 执行 / 幂等 / 回滚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094476" y="2240280"/>
            <a:ext cx="0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74152" y="2542032"/>
            <a:ext cx="3611880" cy="239572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74152" y="2542032"/>
            <a:ext cx="3611880" cy="402336"/>
          </a:xfrm>
          <a:prstGeom prst="roundRect">
            <a:avLst>
              <a:gd name="adj" fmla="val 3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2587752"/>
            <a:ext cx="36118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验证与进化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38744" y="30723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38744" y="3072384"/>
            <a:ext cx="64008" cy="80467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6" y="31638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 Agent · Verifier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03336" y="34930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结果核验 / 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8238744" y="3986784"/>
            <a:ext cx="3282696" cy="8046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86784"/>
            <a:ext cx="64008" cy="80467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3336" y="407822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 Agent · Reviewer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03336" y="4407408"/>
            <a:ext cx="30175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根因分析 / 知识沉淀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094476" y="2240280"/>
            <a:ext cx="3785616" cy="301752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02920" y="5138928"/>
            <a:ext cx="11185855" cy="621792"/>
          </a:xfrm>
          <a:prstGeom prst="roundRect">
            <a:avLst>
              <a:gd name="adj" fmla="val 12000"/>
            </a:avLst>
          </a:prstGeom>
          <a:solidFill>
            <a:srgbClr val="E6F5F4"/>
          </a:solidFill>
          <a:ln w="9525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5212080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协同三原则：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单一领导权——一单一主控，避免双头指挥　　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② 最小授权——Worker 仅持本职权限，跨权限须经主控路由　　</a:t>
            </a:r>
            <a:r>
              <a:rPr sz="10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③ 人工兜底——高风险 / 低置信 / 异常升级 Human-in-the-loop</a:t>
            </a:r>
            <a:endParaRPr sz="10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身份属性、能力边界与协同关系完整清单见《附录 A：Agent Identity 清单》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Identity 清单（摘要）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6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742"/>
                <a:gridCol w="2652410"/>
                <a:gridCol w="4207271"/>
                <a:gridCol w="309143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Agent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身份定位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能力边界（能做 / 不做）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协同关系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主控 Agent（Leader）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值班长：任务拆解、编排调度、全局状态追踪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做：编排、路由、仲裁、升级决策、结果汇总；不做：直接操作业务系统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与全部 Worker 双向协作；向人工发起审批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聚合 Agent（Intake）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前台接待：多渠道接入、归一化、去重、建档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做：解析消息、指纹去重、生成标准工单；不做：意图判断与业务处理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上游多渠道；下游分诊 Agent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 Agent（Triage）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分诊护士：意图识别、分类分级、补全信息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做：意图/槽位提取、紧急度分级；不做：生成处理动作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上游聚合；下游方案 Agent；低置信转人工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 Agent（Planner）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政策顾问：RAG 检索、生成合规方案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做：检索 SOP/案例、出方案并标注证据与风险；不做：直接执行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上游分诊；下游执行 Agent；高风险发起审批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 Agent（Executor）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柜面操作员：Skill/MCP 执行、幂等、回滚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做：按批准方案调用系统、重试回滚；不做：擅自改方案、超授权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上游方案（须带审批凭证）；下游核验 Agent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核验 Agent（Verifier）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质检员：结果核验、满意度确认、证据包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做：比对证据、触发满意度确认、出核验报告；不做：重新执行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上游执行；输出核验报告交主控归档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复盘 Agent（Reviewer）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分析师：根因分析、知识沉淀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做：疑难案例复盘、知识库与 Skill 策略建议；不做：处理实时工单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上游核验/主控；知识写入需人工确认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权限约束：主控仅调度不写业务；执行 Agent 持最小业务 Token；所有操作留痕审计；敏感数据先脱敏后入库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端到端闭环流程：八环节自主闭环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输入 / 拆解 / 上下文 / 工具 / 验证 / 证据 / 审批回滚 / 经验沉淀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8136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任务输入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聚合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多渠道消息/工单/告警
归一化与去重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99232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99232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84448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任务拆解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84448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主控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84448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目标理解、任务分解
与优先级编排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95544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95544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95544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80760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0760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AgentTeams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房间 +
Ticket Context 共享状态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991856" y="148132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91856" y="148132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1856" y="151790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77072" y="157276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工具调用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77072" y="19385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执行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77072" y="225856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 + MCP
调用企业系统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2920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8136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结果验证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8136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核验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88136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证据比对
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999232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99232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584448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证据沉淀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84448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主控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84448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Trace / Log
证据包归档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495544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95544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95544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80760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审批与回滚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80760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人工 + 主控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080760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高风险人工审批
幂等执行与回滚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991856" y="3493008"/>
            <a:ext cx="2331720" cy="14173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991856" y="3493008"/>
            <a:ext cx="457200" cy="141732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91856" y="35295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77072" y="3584448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经验沉淀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577072" y="395020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A5A4"/>
                </a:solidFill>
                <a:latin typeface="微软雅黑" panose="020B0503020204020204" charset="-122"/>
                <a:ea typeface="微软雅黑" panose="020B0503020204020204" charset="-122"/>
              </a:rPr>
              <a:t>复盘 Agent</a:t>
            </a:r>
            <a:endParaRPr sz="950" b="1" i="0">
              <a:solidFill>
                <a:srgbClr val="0EA5A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77072" y="4270248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知识库更新
Skill 策略优化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2834640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30952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27264" y="219456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7827264" y="420624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5330952" y="420624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834640" y="4206240"/>
            <a:ext cx="164592" cy="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323576" y="2898648"/>
            <a:ext cx="0" cy="594360"/>
          </a:xfrm>
          <a:prstGeom prst="line">
            <a:avLst/>
          </a:prstGeom>
          <a:ln w="2540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02920" y="2898648"/>
            <a:ext cx="0" cy="594360"/>
          </a:xfrm>
          <a:prstGeom prst="line">
            <a:avLst/>
          </a:prstGeom>
          <a:ln w="25400">
            <a:solidFill>
              <a:srgbClr val="E6A23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206240" y="2761488"/>
            <a:ext cx="3749039" cy="566928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0" y="282549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AgentTeams 编排 · 工单状态机 · 全链路追踪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502920" y="5230368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" y="532180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闭环要求 → 设计落点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2788920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98648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任务输入/拆解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98648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聚合 + 主控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129784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39512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上下文传递/工具调用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239512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Matrix + Ticket Context + Skill/MCP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7470648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0376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结果验证/证据沉淀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580376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核验 Agent + Trace/Log/证据包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9811512" y="5349240"/>
            <a:ext cx="2212848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21240" y="54132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审批回滚/经验沉淀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921240" y="570585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人工审批 + 幂等回滚 + 复盘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上下文传递与状态追踪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Ticket Context 作为单一事实源（SSOT），由 Leader 维护状态机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8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2646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工单上下文 Ticket Context（共享状态）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01168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ticket_id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31720" y="201168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唯一标识 · 关联 TraceID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2523744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257860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原始会话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1720" y="257860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多渠道原文（脱敏后）· 会话指纹去重记录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3090672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3145536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意图与分级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145536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intent / 紧急度 / 风险等级 / 情绪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3657600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712464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方案与审批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331720" y="3712464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处理方案 · 证据引用 · 审批状态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4224528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279392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执行证据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31720" y="4279392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工具调用结果 · 凭证 · 幂等键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4791456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48463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核验结果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31720" y="48463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核验报告 · 满意度反馈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85800" y="5358384"/>
            <a:ext cx="5120640" cy="51206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41324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复盘标签</a:t>
            </a:r>
            <a:endParaRPr sz="9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331720" y="5413248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案例标签 · 知识库关联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263640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工单状态机（Leader 维护）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63640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NEW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415784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62088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TRIAGED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8714232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60536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PLANNED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10012680" y="2002536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158984" y="1810512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APPROVED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63640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APPROVED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7415784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62088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EXECUTED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8714232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60536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VERIFIED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10012680" y="2569464"/>
            <a:ext cx="146304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58984" y="237744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CLOSED</a:t>
            </a:r>
            <a:endParaRPr sz="8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720072" y="30906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ESCALATED</a:t>
            </a:r>
            <a:endParaRPr sz="8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9921240" y="2569464"/>
            <a:ext cx="274320" cy="521208"/>
          </a:xfrm>
          <a:prstGeom prst="line">
            <a:avLst/>
          </a:prstGeom>
          <a:ln w="15875">
            <a:solidFill>
              <a:srgbClr val="E6A23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63640" y="3246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→ AgentTeams 能力映射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63640" y="3703320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3703320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758184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Matrix 房间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818120" y="3758184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任务消息、工具结果、中间结论实时传递，Human 可见可介入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63640" y="4325112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63640" y="432511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3799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共享存储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818120" y="437997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对象存储 / 向量库承载 Ticket Context 与证据包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6263640" y="4946904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63640" y="4946904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001768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状态追踪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818120" y="500176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Leader 维护状态机；心跳监控 Worker 运行状态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263640" y="5568696"/>
            <a:ext cx="53949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63640" y="5568696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6235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审计与回滚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818120" y="562356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全部上下文变更留痕，支持审批、回滚与复盘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体系设计：任务能力抽象层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沉淀层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40" y="149961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review.case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181965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调用方：复盘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2212848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212848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14016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20240" y="2295144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verify.result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20240" y="261518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调用方：核验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3008376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008376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0954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3090672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exec.refund / exec.account_change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" y="341071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调用方：执行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3803904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803904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05072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920240" y="38862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plan.policy_rag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920240" y="42062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调用方：方案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599432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599432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认知层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20240" y="4681728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triage.intent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20240" y="50017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调用方：分诊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539496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5394960"/>
            <a:ext cx="1234440" cy="713232"/>
          </a:xfrm>
          <a:prstGeom prst="roundRect">
            <a:avLst>
              <a:gd name="adj" fmla="val 3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59612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接入层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20240" y="5477256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intake.ingest</a:t>
            </a:r>
            <a:endParaRPr sz="11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579729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调用方：聚合 Agent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55080" y="13716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每个 Skill 必须包含九要素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55080" y="178308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1901952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① 名称　② 用途　③ 输入/输出 Schema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④ 调用条件　⑤ 依赖工具　⑥ 失败处理机制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⑦ 安全边界　⑧ 复用价值　⑨ 与多 Agent 协同流程的关系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55080" y="320040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设计要点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55080" y="363931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363931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69417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可复用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43800" y="369417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同一 Skill 可挂载到不同 Worker，跨团队复用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355080" y="427939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5080" y="427939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433425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可观测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43800" y="433425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Skill 调用全链路入 Trace，失败可回放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355080" y="491947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91947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497433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可治理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43800" y="497433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注册至 AgentTeams 统一资产库，版本化发布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55080" y="5559552"/>
            <a:ext cx="53035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5080" y="5559552"/>
            <a:ext cx="64008" cy="5669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60" y="5614416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可降级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43800" y="561441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Skill 内部封装重试 / 降级 / 人工兜底策略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355080" y="61996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完整九要素清单见《docs/Skill清单.md》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核心 Skill 样例：exec.refund（退款执行）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722376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603504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要素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说明</a:t>
                      </a:r>
                      <a:endParaRPr sz="9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名称 / 用途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exec.refund：方案获批后按幂等规则调用支付网关完成退款并回写工单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 / 输出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输入 {ticket_id, refund_order, amount, currency, approved_by, approval_evidence, idempotency_key} → 输出 {status, refund_txn_id, evidence, timestamps}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调用条件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方案已批准；风险等级 ≤ 自动执行阈值；高风险携带人工审批凭证；账户白名单校验通过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依赖工具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支付网关 MCP Server、工单系统 MCP Server、审计日志服务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失败处理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指数退避重试 ≤3 次；幂等键冲突查既有结果不重复退款；连续失败转人工并生成回滚工单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安全边界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白名单账户 + 额度限制；密钥由 AgentTeams 注入不进 Prompt；全程审计留痕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复用价值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换货、退票、改签等资金操作复用同一“幂等执行 + 证据回写 + 失败升级”模式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协同关系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 Agent 调用；上游接方案 Agent 的批准方案；下游交核验 Agent；异常经主控升级人工</a:t>
                      </a:r>
                      <a:endParaRPr sz="9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13716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调用时序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955279" y="1783080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783080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方案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56448" y="213055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批准方案（含审批凭证）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441448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79" y="2532888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532888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596896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执行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56448" y="2880360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 exec.refund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784080" y="3191256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5279" y="3282696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3282696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3346704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支付网关 MCP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56448" y="3630168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退款受理 · 幂等校验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784080" y="3941064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955279" y="4032504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79" y="4032504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40965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工单系统 MCP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56448" y="4379976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回写执行证据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784080" y="4690872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955279" y="4782312"/>
            <a:ext cx="36576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4782312"/>
            <a:ext cx="64008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6448" y="48463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核验 Agent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56448" y="5129784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比对凭证 · 满意度确认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与工具集成（外部系统连接层）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本方案采用 MCP 协议；未落地前以等价工具契约先行，迁移成本仅协议适配层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7818116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9583"/>
                <a:gridCol w="1064246"/>
                <a:gridCol w="1555437"/>
                <a:gridCol w="1227976"/>
                <a:gridCol w="859583"/>
                <a:gridCol w="941449"/>
                <a:gridCol w="1309842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调用入口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关键参数（Schema）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权限范围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失败重试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幂等控制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审计与降级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工单系统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ticket.create / update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{ticket_id, status, assignee, note}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工单读写（本部门）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 + 退避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按 ticket_id 唯一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审计全量；故障时降级邮件工单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支付网关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refund.create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{order_id, amount, currency, idempotency_key}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退款额度受限额策略约束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次；失败回滚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幂等键全局唯一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审计含审批凭证；降级转人工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CRM/账户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account.update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{customer_id, field, old, new}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白名单字段，二次确认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2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变更前后值对拍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审计含变更前后值；降级转人工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知识库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kb.search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{query, top_k, filters}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只读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2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无状态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审计查询；降级返回缓存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通知渠道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notify.send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{channel, template, params}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仅模板发送，禁自定义内容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重试 3 次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消息 ID 去重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审计；降级换渠道</a:t>
                      </a:r>
                      <a:endParaRPr sz="8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41080" y="13716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从契约到 MCP 的迁移路径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41080" y="1810512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1810512"/>
            <a:ext cx="82296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901952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等价工具契约（初赛）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69680" y="2267712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REST/HTTP + OAuth2 · 参数 Schema · 审计 · 幂等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149840" y="2862072"/>
            <a:ext cx="0" cy="15544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3017520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3017520"/>
            <a:ext cx="82296" cy="105156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108960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Server 适配器（复赛）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347472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将契约包装为 MCP 工具：tools/list · tools/call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0149840" y="4069080"/>
            <a:ext cx="0" cy="155448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641080" y="4224528"/>
            <a:ext cx="3063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4224528"/>
            <a:ext cx="82296" cy="105156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4315968"/>
            <a:ext cx="2697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稳定调用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69680" y="4681728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Skill 只依赖工具名与 Schema，不感知协议差异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41080" y="557784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迁移成本：仅协议适配，不改工具调用链、Skill 接口与安全策略。</a:t>
            </a:r>
            <a:endParaRPr sz="9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可观测设计：Trace / Log / Metrics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遵循 OpenTelemetry GenAI 语义，覆盖 Skill、MCP、RAG、LLM 全链路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Trace 全链路轨迹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每工单一个 TraceID 贯穿闭环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Skill 调用 / MCP 工具 / RAG 检索 / LLM 推理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证据包 + 执行截图可回放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33672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33672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Log 审计日志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16552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审批记录、权限变更、异常栈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敏感操作留痕，满足合规审计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与 TraceID 关联检索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64424" y="1371600"/>
            <a:ext cx="3602736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64424" y="1371600"/>
            <a:ext cx="3602736" cy="420624"/>
          </a:xfrm>
          <a:prstGeom prst="roundRect">
            <a:avLst>
              <a:gd name="adj" fmla="val 2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4" y="1426464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Metrics 业务与成本指标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47304" y="1920240"/>
            <a:ext cx="3246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工单时效 / 一次解决率 / 人工介入率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Token 消耗 / 模型调用量 / 错误率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告警：异常率、超时、额度超限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采集与消费链路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2776220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 / Skill / MCP / RAG / LLM 推理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79140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88868" y="3840480"/>
            <a:ext cx="1105217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OTLP 采集器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494085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603813" y="3840480"/>
            <a:ext cx="2022157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SLS 存储 + AgentLoop 观测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625970" y="4087368"/>
            <a:ext cx="109728" cy="0"/>
          </a:xfrm>
          <a:prstGeom prst="line">
            <a:avLst/>
          </a:prstGeom>
          <a:ln w="19050">
            <a:solidFill>
              <a:srgbClr val="0EA5A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735698" y="3840480"/>
            <a:ext cx="1817052" cy="50292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实时监控告警 / 离线评估</a:t>
            </a:r>
            <a:endParaRPr sz="9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663440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63440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18304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在线监控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94560" y="4718304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仪表盘实时查看 Worker 用量、模型调用、Token 趋势，异常自动告警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5285232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285232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340096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离线评估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94560" y="5340096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基于评估集量化意图识别准确率、方案合规率、一次解决率，驱动优化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907024"/>
            <a:ext cx="11185855" cy="530352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907024"/>
            <a:ext cx="64008" cy="5303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61888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评审证据</a:t>
            </a:r>
            <a:endParaRPr sz="11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194560" y="5961888"/>
            <a:ext cx="92656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每工单输出 Trace 报告 + 证据包（截图/日志/结果凭证）作为执行证据沉淀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RAG 与上下文增强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四项上下文能力全覆盖，满足赛题“至少实现 2 项”；RAG 贯穿检索 → 证据对齐 → 决策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5389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 记忆存储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" y="1892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短期：工单上下文（Redis）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长期：历史案例向量化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55848" y="141732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55848" y="141732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45389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知识库 RAG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83864" y="189280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SOP / 产品手册 / 历史工单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混合检索 + 重排 + 引用溯源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88036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1693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共享状态管理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0936" y="33558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Ticket Context 单一事实源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状态机驱动流转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355848" y="2880360"/>
            <a:ext cx="2724912" cy="131673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55848" y="2880360"/>
            <a:ext cx="2724912" cy="365760"/>
          </a:xfrm>
          <a:prstGeom prst="roundRect">
            <a:avLst>
              <a:gd name="adj" fmla="val 2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47288" y="2916936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轨迹可观测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83864" y="3355848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TraceID 贯穿全链路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证据包可回放可审计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83280" y="4315968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 项全覆盖 ✓ 满足 ≥2 项要求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26480" y="13716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RAG 决策链路（防幻觉设计）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26480" y="1783080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783080"/>
            <a:ext cx="82296" cy="65836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84708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工单 + 分级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78240" y="184708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方案 Agent 判断是否需要检索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8869680" y="2441448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26480" y="2532888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0" y="2532888"/>
            <a:ext cx="82296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59689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接入数据源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78240" y="2596896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知识库 / 历史案例 / 业务数据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869680" y="3191256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126480" y="3282696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0" y="3282696"/>
            <a:ext cx="82296" cy="65836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82512" y="334670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检索 + 证据对齐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8240" y="3346704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plan.policy_rag：混合检索 + 重排 + 引用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869680" y="3941064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126480" y="4032504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4032504"/>
            <a:ext cx="82296" cy="658368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4096512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证据充分性判断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778240" y="409651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Agent 判定证据是否足以支撑决策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8869680" y="4690872"/>
            <a:ext cx="0" cy="9144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126480" y="4782312"/>
            <a:ext cx="54864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26480" y="4782312"/>
            <a:ext cx="82296" cy="658368"/>
          </a:xfrm>
          <a:prstGeom prst="rect">
            <a:avLst/>
          </a:prstGeom>
          <a:solidFill>
            <a:srgbClr val="E54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4846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生成方案 / 升级人工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78240" y="4846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证据不足则标注并升级，杜绝幻觉执行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安全边界、审批与回滚、审计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高风险动作人工确认：审批凭证链 + 幂等执行 + 回滚审计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398"/>
                <a:gridCol w="4024346"/>
                <a:gridCol w="569810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风险级别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典型动作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执行策略</a:t>
                      </a:r>
                      <a:endParaRPr sz="10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低风险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修改工单备注、发送通知、资料补全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规则校验后自动执行，全程留痕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换货、非敏感信息变更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 Agent 生成方案 + 规则校验，限额内自动执行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高风险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退款、账户敏感变更、批量操作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人工审批（大额双人复核）后执行，支持回滚</a:t>
                      </a:r>
                      <a:endParaRPr sz="100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审批与回滚机制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520440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56616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审批凭证链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5688" y="356616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审批意见、审批人、时间、动作哈希进入执行上下文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42232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142232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4187952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幂等控制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75688" y="4187952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幂等键全局唯一，重复请求不重复执行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764024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64024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80974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回滚机制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075688" y="4809744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每类动作预置回滚脚本，执行失败自动回滚并通知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5385816"/>
            <a:ext cx="548640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385816"/>
            <a:ext cx="64008" cy="548640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43153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额度控制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75688" y="543153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单笔 / 单日限额，超限强制人工审批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0" y="31089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审计与合规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3520440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520440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56616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RBAC 最小权限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0" y="356616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Worker 仅持本职 Token，跨权限须主控路由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00800" y="4142232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42232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41879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敏感数据脱敏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38160" y="418795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会话原文先脱敏再入库，满意度数据匿名化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400800" y="4764024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764024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80974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密钥治理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38160" y="4809744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密钥由 AgentTeams 注入，不进入 Prompt / 日志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00800" y="5385816"/>
            <a:ext cx="5303520" cy="5486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5385816"/>
            <a:ext cx="64008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543153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全程审计</a:t>
            </a:r>
            <a:endParaRPr sz="10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38160" y="5431536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审批、执行、回滚全部留痕，支持合规追溯</a:t>
            </a:r>
            <a:endParaRPr sz="8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2920" y="6035040"/>
            <a:ext cx="1118585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安全设计贯穿 AgentTeams：团队权限隔离、模型配置管控、监控仪表盘异常识别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异常分支与容错设计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每个异常都有“检测方式 + 处理策略”，确保闭环不中断、不失控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15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85853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872"/>
                <a:gridCol w="4024346"/>
                <a:gridCol w="4417635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异常场景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检测方式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处理策略</a:t>
                      </a:r>
                      <a:endParaRPr sz="10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0E2A4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意图置信度低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分诊 Agent 输出置信度分数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追问补全信息；仍不满足则转人工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重复工单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会话指纹 / 语义相似度去重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合并至既有工单，保留关联记录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工具调用失败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MCP 返回错误码 + Trace 异常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指数退避重试 ≤3 次；失败升级人工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执行结果异常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核验 Agent 比对金额 / 状态 / 凭证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标记异常 → 自动回滚或人工介入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检索证据不足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plan.policy_rag 返回证据得分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方案标注“证据不足”，不执行并升级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审批超时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审批台超时定时器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升级提醒；紧急工单提升优先级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模型不可用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健康检查 / 调用错误率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切换备用模型或规则引擎降级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敏感信息泄露风险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内容合规检测 / 脱敏过滤器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F29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拒绝写入、告警并隔离该工单</a:t>
                      </a:r>
                      <a:endParaRPr sz="950" b="0" i="0">
                        <a:solidFill>
                          <a:srgbClr val="1F2937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5720" marR="45720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降级原则：先保可用 → 再保正确 → 最后保自动化；任何无法自动恢复的路径都收敛到人工（Human-in-the-loop）。</a:t>
            </a:r>
            <a:endParaRPr sz="105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可行性与落地计划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四阶段推进：初赛设计 → 复赛最小闭环 → 决赛生产化验证 → 赛后开源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初赛 · 当前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470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方向与方案设计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方案设计 + 架构图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7 个 Agent Identity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7 个 Skill 九要素清单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等价契约与迁移路径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34440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300984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00984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38144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复赛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144" y="18470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可运行最小闭环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02152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AgentTeams 本地部署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02152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3+ Worker 跑通闭环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02152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Skill 落地与样例输入输出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02152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运行证据（Trace/日志）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032504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进行中</a:t>
            </a:r>
            <a:endParaRPr sz="9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99048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99048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36208" y="18470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生产化验证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0216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接入真实/仿真企业系统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0216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可观测 + 离线评估体系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00216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审批 / 回滚 / 安全演练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300216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压测与多租户隔离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830568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sz="95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897112" y="1417320"/>
            <a:ext cx="2670048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97112" y="1417320"/>
            <a:ext cx="2670048" cy="566928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14813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赛后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34272" y="18470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开放与复用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98280" y="21945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开源 Skill 库与闭环模板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98280" y="2670048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MCP 工具契约标准化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98280" y="3145536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复盘数据集模板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098280" y="3621024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• 跨场景复制（IT/政务/金融）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628632" y="434340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950" b="1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计划</a:t>
            </a:r>
            <a:endParaRPr sz="950" b="1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02920" y="5212080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3035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可行性要点</a:t>
            </a:r>
            <a:endParaRPr sz="12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651760" y="53949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组件可得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03320" y="53949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AgentTeams 云服务 / 开源部署 + 阿里云生态，零自研框架成本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651760" y="566928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依赖可控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03320" y="5669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仅需 Docker + LLM API Key，2-3 人即可推进复赛闭环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651760" y="594360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B7A79"/>
                </a:solidFill>
                <a:latin typeface="微软雅黑" panose="020B0503020204020204" charset="-122"/>
                <a:ea typeface="微软雅黑" panose="020B0503020204020204" charset="-122"/>
              </a:rPr>
              <a:t>演进平滑</a:t>
            </a:r>
            <a:endParaRPr sz="1000" b="1" i="0">
              <a:solidFill>
                <a:srgbClr val="0B7A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03320" y="59436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契约先行 → MCP 适配 → 生产化，调用链无需重构</a:t>
            </a:r>
            <a:endParaRPr sz="95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开放 / 开源价值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9326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输出可复用资产：闭环模板、Skill 库、MCP 契约、评估数据集</a:t>
            </a:r>
            <a:endParaRPr sz="11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2670048" cy="731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客服闭环编排模板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Agent Teams 定义 + 工单状态机 + 上下文 Schema，开箱即用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00984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1417320"/>
            <a:ext cx="2670048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Skill 库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47288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九要素文档 + 可运行实现（复赛）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99048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8" y="1417320"/>
            <a:ext cx="2670048" cy="73152"/>
          </a:xfrm>
          <a:prstGeom prst="rect">
            <a:avLst/>
          </a:prstGeom>
          <a:solidFill>
            <a:srgbClr val="E6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MCP 工具契约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45352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工单 / 支付 / CRM / 知识库 / 通知的接口契约与适配器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97112" y="1417320"/>
            <a:ext cx="2670048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97112" y="1417320"/>
            <a:ext cx="2670048" cy="731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627632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复盘数据集模板</a:t>
            </a:r>
            <a:endParaRPr sz="11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43416" y="228600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疑难案例标注、评估指标与复盘报告模板</a:t>
            </a:r>
            <a:endParaRPr sz="85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可复制场景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电商售后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773936" y="3840480"/>
            <a:ext cx="152704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IT 服务台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47288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政务热线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718304" y="3840480"/>
            <a:ext cx="1124712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金融客服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9320" y="384048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物流 / 出行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863840" y="384048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9144" rIns="36576" bIns="9144" rtlCol="0" anchor="ctr"/>
          <a:lstStyle/>
          <a:p>
            <a:pPr algn="ctr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SaaS 订阅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生态协同</a:t>
            </a:r>
            <a:endParaRPr sz="12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502920" y="4937760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937760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983480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AgentTeams / HiClaw 社区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60520" y="4983480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沉淀客服团队模板与 Worker 配置，反向贡献社区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02920" y="5513832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5513832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559552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AgentLoop 观测生态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60520" y="5559552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共享评估指标与 Trace 语义，降低多团队适配成本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02920" y="6089904"/>
            <a:ext cx="11185855" cy="50292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9525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6089904"/>
            <a:ext cx="64008" cy="5029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135624"/>
            <a:ext cx="3291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企业 IM 入口</a:t>
            </a:r>
            <a:endParaRPr sz="105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60520" y="6135624"/>
            <a:ext cx="729965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钉钉 / 飞书 / 企业微信发起任务，天然支持 Human-in-the-loop</a:t>
            </a:r>
            <a:endParaRPr sz="9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82296" cy="47548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402336"/>
            <a:ext cx="96012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E2A47"/>
                </a:solidFill>
                <a:latin typeface="微软雅黑" panose="020B0503020204020204" charset="-122"/>
                <a:ea typeface="微软雅黑" panose="020B0503020204020204" charset="-122"/>
              </a:rPr>
              <a:t>项目进展与总结</a:t>
            </a:r>
            <a:endParaRPr sz="2400" b="1" i="0">
              <a:solidFill>
                <a:srgbClr val="0E2A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43584"/>
            <a:ext cx="11185855" cy="15240"/>
          </a:xfrm>
          <a:prstGeom prst="rect">
            <a:avLst/>
          </a:prstGeom>
          <a:solidFill>
            <a:srgbClr val="E5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sz="10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900" b="0" i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486400" cy="32918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7218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已完成（初赛）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方案设计：Leader-Worker 五层架构 + 八环节闭环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7 个 Agent 的 Identity 清单（附录 A）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7 个核心 Skill 九要素完整定义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MCP 工具契约与迁移路径设计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样例输入输出与校验脚本（可运行）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2EA043"/>
                </a:solidFill>
                <a:latin typeface="微软雅黑" panose="020B0503020204020204" charset="-122"/>
                <a:ea typeface="微软雅黑" panose="020B0503020204020204" charset="-122"/>
              </a:rPr>
              <a:t>✓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本方案 PPT 与交付文档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394960" cy="329184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E5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7218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下一步（复赛）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基于 AgentTeams 本地部署，创建 3+ Worker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跑通最小闭环：聚合 → 分诊 → 方案 → 执行 → 核验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落地 2-3 个 Skill 与 MCP 适配器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0" y="33832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产出样例输入输出与运行证据（Trace / 日志 / 截图）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840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</a:rPr>
              <a:t>接入离线评估，量化一次解决率与人工介入率</a:t>
            </a:r>
            <a:endParaRPr sz="1000" b="0" i="0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11185855" cy="1097280"/>
          </a:xfrm>
          <a:prstGeom prst="roundRect">
            <a:avLst>
              <a:gd name="adj" fmla="val 10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0368"/>
            <a:ext cx="1045433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一句话总结：</a:t>
            </a:r>
            <a:r>
              <a:rPr sz="12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让客服从“单点问答”走向“自主闭环”——多 Agent 协同完成接入、分诊、方案、执行、核验与沉淀，</a:t>
            </a:r>
            <a:endParaRPr sz="12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可执行、可核验、可复盘、可进化，并以 AgentTeams 为底座平滑走向生产。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800600"/>
            <a:ext cx="2011680" cy="2011680"/>
          </a:xfrm>
          <a:prstGeom prst="ellipse">
            <a:avLst/>
          </a:prstGeom>
          <a:noFill/>
          <a:ln w="19050">
            <a:solidFill>
              <a:srgbClr val="1B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594360"/>
            <a:ext cx="640080" cy="640080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谢谢观看</a:t>
            </a:r>
            <a:endParaRPr sz="4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5ED0CE"/>
                </a:solidFill>
                <a:latin typeface="微软雅黑" panose="020B0503020204020204" charset="-122"/>
                <a:ea typeface="微软雅黑" panose="020B0503020204020204" charset="-122"/>
              </a:rPr>
              <a:t>智服方舟 · 多智能体客服自主闭环平台</a:t>
            </a:r>
            <a:endParaRPr sz="1800" b="1" i="0">
              <a:solidFill>
                <a:srgbClr val="5ED0C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恳请各位评委老师指正</a:t>
            </a:r>
            <a:endParaRPr sz="13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91695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团队成员：_____</a:t>
            </a:r>
            <a:r>
              <a:rPr 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龙泓宇</a:t>
            </a:r>
            <a:r>
              <a:rPr lang="en-US" altLang="zh-CN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王子寒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　　　　联系方式：_</a:t>
            </a:r>
            <a:r>
              <a:rPr lang="en-US"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90565130</a:t>
            </a:r>
            <a:r>
              <a:rPr sz="1000" b="0" i="0">
                <a:solidFill>
                  <a:srgbClr val="9AABBE"/>
                </a:solidFill>
                <a:latin typeface="微软雅黑" panose="020B0503020204020204" charset="-122"/>
                <a:ea typeface="微软雅黑" panose="020B0503020204020204" charset="-122"/>
              </a:rPr>
              <a:t>___________</a:t>
            </a:r>
            <a:endParaRPr sz="1000" b="0" i="0">
              <a:solidFill>
                <a:srgbClr val="9AABB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8662</Words>
  <Application>WPS 演示</Application>
  <PresentationFormat>On-screen Show (4:3)</PresentationFormat>
  <Paragraphs>1163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29513</cp:lastModifiedBy>
  <cp:revision>3</cp:revision>
  <dcterms:created xsi:type="dcterms:W3CDTF">2013-01-27T09:14:00Z</dcterms:created>
  <dcterms:modified xsi:type="dcterms:W3CDTF">2026-08-14T19:48:06Z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173691A4A8A149A099936BBAF02384D3_12</vt:lpwstr>
  </property>
  <property fmtid="{D5CDD505-2E9C-101B-9397-08002B2CF9AE}" pid="3" name="KSOProductBuildVer">
    <vt:lpwstr>2052-12.1.0.19302</vt:lpwstr>
  </property>
</Properties>
</file>